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15b6792-f57c-42fa-e0e6-51e7d6761b2c}">
          <p14:sldIdLst>
            <p14:sldId id="256"/>
            <p14:sldId id="257"/>
          </p14:sldIdLst>
        </p14:section>
        <p14:section name="Problem &amp; Solution" id="{9febc4f4-bd9b-8d6d-211e-8770a918d1b7}">
          <p14:sldIdLst>
            <p14:sldId id="258"/>
            <p14:sldId id="259"/>
          </p14:sldIdLst>
        </p14:section>
        <p14:section name="Product" id="{865b78d6-373e-4909-2d81-1725c5442b71}">
          <p14:sldIdLst>
            <p14:sldId id="260"/>
          </p14:sldIdLst>
        </p14:section>
        <p14:section name="Market &amp; Model" id="{378cddd4-2cb3-1a62-49d4-af12712d45f6}">
          <p14:sldIdLst>
            <p14:sldId id="261"/>
            <p14:sldId id="262"/>
          </p14:sldIdLst>
        </p14:section>
        <p14:section name="Edge" id="{40a88851-c04e-8e8e-a734-e06b6b10dd8e}">
          <p14:sldIdLst>
            <p14:sldId id="263"/>
          </p14:sldIdLst>
        </p14:section>
        <p14:section name="Growth" id="{bdf66f75-14ff-4ab9-7e12-fc16d3cb7e2f}">
          <p14:sldIdLst>
            <p14:sldId id="264"/>
            <p14:sldId id="265"/>
          </p14:sldIdLst>
        </p14:section>
        <p14:section name="The Ask" id="{068ae64e-1995-0194-c3af-74ae1f927af0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0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033"/>
                </a:solidFill>
                <a:latin typeface="Arial"/>
              </a:rPr>
              <a:t>Revenue (₹ Cr) — illustrative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 Cr)</c:v>
                </c:pt>
              </c:strCache>
            </c:strRef>
          </c:tx>
          <c:spPr>
            <a:solidFill>
              <a:srgbClr val="5B52E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10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</c:v>
                </c:pt>
                <c:pt idx="1">
                  <c:v>4.2</c:v>
                </c:pt>
                <c:pt idx="2">
                  <c:v>14.5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B10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22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Arial"/>
              </a:rPr>
              <a:t>Use of funds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9C978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8B5CF6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58AA3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3AA68A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Product &amp; AI</c:v>
                </c:pt>
                <c:pt idx="1">
                  <c:v>Sales &amp; partnerships</c:v>
                </c:pt>
                <c:pt idx="2">
                  <c:v>Vendor network</c:v>
                </c:pt>
                <c:pt idx="3">
                  <c:v>Ops &amp; legal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40</c:v>
                </c:pt>
                <c:pt idx="1">
                  <c:v>30</c:v>
                </c:pt>
                <c:pt idx="2">
                  <c:v>15</c:v>
                </c:pt>
                <c:pt idx="3">
                  <c:v>15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FFFFF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(15 sec): "Sharks, a typical Indian family will spend ₹25 lakh on a wedding. Today they sign that cheque before they have seen a single thing. We fix that." Pause,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personal: "Imagine buying a car you can only see after you have paid." Let the number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pains: they cannot see it, they cannot compare it, they cannot control the cost. Planners feel all three, every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three steps in one breath. Then go to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(45 sec): open index.html. Switch theme live, drag guests to 700 to trigger the capacity warning, open Quote. Say: "Every number you see updates from what is in the 3D scene."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sizes are widely cited industry estimates — verify and cite your own source before pitching. The wedge is décor: visual, high-ticket, high-regret.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Prices are proposed placeholders — replace with your validated pricing. Lead with SaaS (predictable), vendors (scale), commission (upside).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ready: "Can we not just hire a designer for renders?" — Yes, for ₹30–50k per render, days later. We do unlimited, instant, and attach the quote.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Planners are the distribution: each planner runs 10–40 weddings a year and brings couples + vendors with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figures are illustrative targets, not actuals. Replace with your model before pitching. Expect: "What are your sales today?" — answer honestly (pre-revenue prototype) and pivot to the pilot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ask clearly, once: "₹1.5 crore for 5 percent." Then stop talking. Valuation and split are placeholders — adjust to your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eye contact. Then Q&amp;A. Prep: CAC, pricing proof, why now (3D in browser + AI), defensibility, founder-market 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3d" descr="3D preview of a pastel wedding hal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0"/>
            <a:ext cx="4389120" cy="5143500"/>
          </a:xfrm>
          <a:prstGeom prst="rect">
            <a:avLst/>
          </a:prstGeom>
        </p:spPr>
      </p:pic>
      <p:sp>
        <p:nvSpPr>
          <p:cNvPr id="3" name="hero-tint"/>
          <p:cNvSpPr/>
          <p:nvPr/>
        </p:nvSpPr>
        <p:spPr>
          <a:xfrm>
            <a:off x="4754880" y="0"/>
            <a:ext cx="4389120" cy="5143500"/>
          </a:xfrm>
          <a:prstGeom prst="rect">
            <a:avLst/>
          </a:prstGeom>
          <a:solidFill>
            <a:srgbClr val="1B1033">
              <a:alpha val="45000"/>
            </a:srgbClr>
          </a:solidFill>
          <a:ln w="12700">
            <a:solidFill>
              <a:srgbClr val="1B1033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· VISUALIZE · CELEBRATE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46304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WedVerse AI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3774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your wedding before you spend on it.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1148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pitch  ·  Ask: ₹1.5 Cr for 5%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₹25 lakh decision with no preview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₹25,00,000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spend on a single big-fat Indian wedding — committed months before anyone sees the décor, the layout or the final bill.</a:t>
            </a:r>
            <a:endParaRPr lang="en-US" sz="1800" dirty="0"/>
          </a:p>
        </p:txBody>
      </p:sp>
      <p:sp>
        <p:nvSpPr>
          <p:cNvPr id="5" name="pain-0"/>
          <p:cNvSpPr/>
          <p:nvPr/>
        </p:nvSpPr>
        <p:spPr>
          <a:xfrm>
            <a:off x="5669280" y="1463040"/>
            <a:ext cx="2926080" cy="868680"/>
          </a:xfrm>
          <a:prstGeom prst="roundRect">
            <a:avLst>
              <a:gd name="adj" fmla="val 12632"/>
            </a:avLst>
          </a:prstGeom>
          <a:solidFill>
            <a:srgbClr val="2A1B54"/>
          </a:solidFill>
          <a:ln w="12700">
            <a:solidFill>
              <a:srgbClr val="2A1B54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852160" y="1591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&amp; Pinterest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852160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Inspiration, not your venue</a:t>
            </a:r>
            <a:endParaRPr lang="en-US" sz="1300" dirty="0"/>
          </a:p>
        </p:txBody>
      </p:sp>
      <p:sp>
        <p:nvSpPr>
          <p:cNvPr id="8" name="pain-1"/>
          <p:cNvSpPr/>
          <p:nvPr/>
        </p:nvSpPr>
        <p:spPr>
          <a:xfrm>
            <a:off x="5669280" y="2468880"/>
            <a:ext cx="2926080" cy="868680"/>
          </a:xfrm>
          <a:prstGeom prst="roundRect">
            <a:avLst>
              <a:gd name="adj" fmla="val 12632"/>
            </a:avLst>
          </a:prstGeom>
          <a:solidFill>
            <a:srgbClr val="2A1B54"/>
          </a:solidFill>
          <a:ln w="12700">
            <a:solidFill>
              <a:srgbClr val="2A1B54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852160" y="259689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Verbal quotes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2926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compare, easy to inflate</a:t>
            </a:r>
            <a:endParaRPr lang="en-US" sz="1300" dirty="0"/>
          </a:p>
        </p:txBody>
      </p:sp>
      <p:sp>
        <p:nvSpPr>
          <p:cNvPr id="11" name="pain-2"/>
          <p:cNvSpPr/>
          <p:nvPr/>
        </p:nvSpPr>
        <p:spPr>
          <a:xfrm>
            <a:off x="5669280" y="3474720"/>
            <a:ext cx="2926080" cy="868680"/>
          </a:xfrm>
          <a:prstGeom prst="roundRect">
            <a:avLst>
              <a:gd name="adj" fmla="val 12632"/>
            </a:avLst>
          </a:prstGeom>
          <a:solidFill>
            <a:srgbClr val="2A1B54"/>
          </a:solidFill>
          <a:ln w="12700">
            <a:solidFill>
              <a:srgbClr val="2A1B54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852160" y="360273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Day-of surprises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39319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isn't what we imagined"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problems every couple faces</a:t>
            </a:r>
            <a:endParaRPr lang="en-US" sz="3200" dirty="0"/>
          </a:p>
        </p:txBody>
      </p:sp>
      <p:sp>
        <p:nvSpPr>
          <p:cNvPr id="3" name="prob-0"/>
          <p:cNvSpPr/>
          <p:nvPr/>
        </p:nvSpPr>
        <p:spPr>
          <a:xfrm>
            <a:off x="548640" y="1371600"/>
            <a:ext cx="2514600" cy="292608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4" name="icon-bg-prob-0"/>
          <p:cNvSpPr/>
          <p:nvPr/>
        </p:nvSpPr>
        <p:spPr>
          <a:xfrm>
            <a:off x="777240" y="1600200"/>
            <a:ext cx="640080" cy="640080"/>
          </a:xfrm>
          <a:prstGeom prst="ellipse">
            <a:avLst/>
          </a:prstGeom>
          <a:solidFill>
            <a:srgbClr val="E58AA3"/>
          </a:solidFill>
          <a:ln w="12700">
            <a:solidFill>
              <a:srgbClr val="E58AA3"/>
            </a:solidFill>
            <a:prstDash val="solid"/>
          </a:ln>
        </p:spPr>
      </p:sp>
      <p:pic>
        <p:nvPicPr>
          <p:cNvPr id="5" name="icon-prob-0" descr="prob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062" y="1773022"/>
            <a:ext cx="294437" cy="29443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468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Imagination gap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9260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Couples cannot picture their own venue with a theme, layout and lighting.</a:t>
            </a:r>
            <a:endParaRPr lang="en-US" sz="1400" dirty="0"/>
          </a:p>
        </p:txBody>
      </p:sp>
      <p:sp>
        <p:nvSpPr>
          <p:cNvPr id="8" name="prob-1"/>
          <p:cNvSpPr/>
          <p:nvPr/>
        </p:nvSpPr>
        <p:spPr>
          <a:xfrm>
            <a:off x="3264408" y="1371600"/>
            <a:ext cx="2514600" cy="292608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9" name="icon-bg-prob-1"/>
          <p:cNvSpPr/>
          <p:nvPr/>
        </p:nvSpPr>
        <p:spPr>
          <a:xfrm>
            <a:off x="3493008" y="1600200"/>
            <a:ext cx="640080" cy="64008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10" name="icon-prob-1" descr="prob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5830" y="1773022"/>
            <a:ext cx="294437" cy="29443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93008" y="2468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Quote chaos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493008" y="29260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décor vendor quotes differently. No way to compare like-for-like.</a:t>
            </a:r>
            <a:endParaRPr lang="en-US" sz="1400" dirty="0"/>
          </a:p>
        </p:txBody>
      </p:sp>
      <p:sp>
        <p:nvSpPr>
          <p:cNvPr id="13" name="prob-2"/>
          <p:cNvSpPr/>
          <p:nvPr/>
        </p:nvSpPr>
        <p:spPr>
          <a:xfrm>
            <a:off x="5980176" y="1371600"/>
            <a:ext cx="2514600" cy="292608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4" name="icon-bg-prob-2"/>
          <p:cNvSpPr/>
          <p:nvPr/>
        </p:nvSpPr>
        <p:spPr>
          <a:xfrm>
            <a:off x="6208776" y="1600200"/>
            <a:ext cx="640080" cy="640080"/>
          </a:xfrm>
          <a:prstGeom prst="ellipse">
            <a:avLst/>
          </a:prstGeom>
          <a:solidFill>
            <a:srgbClr val="B98A2E"/>
          </a:solidFill>
          <a:ln w="12700">
            <a:solidFill>
              <a:srgbClr val="B98A2E"/>
            </a:solidFill>
            <a:prstDash val="solid"/>
          </a:ln>
        </p:spPr>
      </p:sp>
      <p:pic>
        <p:nvPicPr>
          <p:cNvPr id="15" name="icon-prob-2" descr="prob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598" y="1773022"/>
            <a:ext cx="294437" cy="29443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08776" y="2468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overruns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208776" y="29260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after booking cost 20–30% more. Planners juggle it in spreadsheets.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WedVerse AI: preview, optimise, book</a:t>
            </a:r>
            <a:endParaRPr lang="en-US" sz="3200" dirty="0"/>
          </a:p>
        </p:txBody>
      </p:sp>
      <p:sp>
        <p:nvSpPr>
          <p:cNvPr id="3" name="icon-bg-step-0"/>
          <p:cNvSpPr/>
          <p:nvPr/>
        </p:nvSpPr>
        <p:spPr>
          <a:xfrm>
            <a:off x="548640" y="1463040"/>
            <a:ext cx="822960" cy="82296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4" name="icon-step-0" descr="step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685239"/>
            <a:ext cx="378562" cy="37856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Upload venue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9260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Photos, floor plan or video become a 3D digital twin.</a:t>
            </a:r>
            <a:endParaRPr lang="en-US" sz="1400" dirty="0"/>
          </a:p>
        </p:txBody>
      </p:sp>
      <p:pic>
        <p:nvPicPr>
          <p:cNvPr id="7" name="arrow-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737360"/>
            <a:ext cx="274320" cy="274320"/>
          </a:xfrm>
          <a:prstGeom prst="rect">
            <a:avLst/>
          </a:prstGeom>
        </p:spPr>
      </p:pic>
      <p:sp>
        <p:nvSpPr>
          <p:cNvPr id="8" name="icon-bg-step-1"/>
          <p:cNvSpPr/>
          <p:nvPr/>
        </p:nvSpPr>
        <p:spPr>
          <a:xfrm>
            <a:off x="3337560" y="1463040"/>
            <a:ext cx="822960" cy="822960"/>
          </a:xfrm>
          <a:prstGeom prst="ellipse">
            <a:avLst/>
          </a:prstGeom>
          <a:solidFill>
            <a:srgbClr val="B98A2E"/>
          </a:solidFill>
          <a:ln w="12700">
            <a:solidFill>
              <a:srgbClr val="B98A2E"/>
            </a:solidFill>
            <a:prstDash val="solid"/>
          </a:ln>
        </p:spPr>
      </p:sp>
      <p:pic>
        <p:nvPicPr>
          <p:cNvPr id="9" name="icon-step-1" descr="step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759" y="1685239"/>
            <a:ext cx="378562" cy="37856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33756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Design in 3D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29260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themes, layouts and lighting in seconds. Walk it in VR.</a:t>
            </a:r>
            <a:endParaRPr lang="en-US" sz="1400" dirty="0"/>
          </a:p>
        </p:txBody>
      </p:sp>
      <p:pic>
        <p:nvPicPr>
          <p:cNvPr id="12" name="arrow-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1737360"/>
            <a:ext cx="274320" cy="274320"/>
          </a:xfrm>
          <a:prstGeom prst="rect">
            <a:avLst/>
          </a:prstGeom>
        </p:spPr>
      </p:pic>
      <p:sp>
        <p:nvSpPr>
          <p:cNvPr id="13" name="icon-bg-step-2"/>
          <p:cNvSpPr/>
          <p:nvPr/>
        </p:nvSpPr>
        <p:spPr>
          <a:xfrm>
            <a:off x="6126480" y="1463040"/>
            <a:ext cx="822960" cy="822960"/>
          </a:xfrm>
          <a:prstGeom prst="ellipse">
            <a:avLst/>
          </a:prstGeom>
          <a:solidFill>
            <a:srgbClr val="3AA68A"/>
          </a:solidFill>
          <a:ln w="12700">
            <a:solidFill>
              <a:srgbClr val="3AA68A"/>
            </a:solidFill>
            <a:prstDash val="solid"/>
          </a:ln>
        </p:spPr>
      </p:sp>
      <p:pic>
        <p:nvPicPr>
          <p:cNvPr id="14" name="icon-step-2" descr="step-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8679" y="1685239"/>
            <a:ext cx="378562" cy="37856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612648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Optimise budget</a:t>
            </a:r>
            <a:endParaRPr lang="en-US" sz="2000" dirty="0"/>
          </a:p>
        </p:txBody>
      </p:sp>
      <p:sp>
        <p:nvSpPr>
          <p:cNvPr id="16" name="Text 9"/>
          <p:cNvSpPr txBox="1"/>
          <p:nvPr/>
        </p:nvSpPr>
        <p:spPr>
          <a:xfrm>
            <a:off x="6126480" y="29260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quote, material list and AI savings ideas as you design.</a:t>
            </a:r>
            <a:endParaRPr lang="en-US" sz="1400" dirty="0"/>
          </a:p>
        </p:txBody>
      </p:sp>
      <p:sp>
        <p:nvSpPr>
          <p:cNvPr id="17" name="tagline"/>
          <p:cNvSpPr/>
          <p:nvPr/>
        </p:nvSpPr>
        <p:spPr>
          <a:xfrm>
            <a:off x="548640" y="3931920"/>
            <a:ext cx="8046720" cy="54864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8" name="Text 11"/>
          <p:cNvSpPr txBox="1"/>
          <p:nvPr/>
        </p:nvSpPr>
        <p:spPr>
          <a:xfrm>
            <a:off x="731520" y="3931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Couples preview, customise and optimise their wedding in 3D — before booking a single vendor.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product — not a mock-up</a:t>
            </a:r>
            <a:endParaRPr lang="en-US" sz="3200" dirty="0"/>
          </a:p>
        </p:txBody>
      </p:sp>
      <p:pic>
        <p:nvPicPr>
          <p:cNvPr id="3" name="shot-0" descr="Royal Pastel · banque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25880"/>
            <a:ext cx="2560320" cy="1600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Pastel · banquet</a:t>
            </a:r>
            <a:endParaRPr lang="en-US" sz="1200" dirty="0"/>
          </a:p>
        </p:txBody>
      </p:sp>
      <p:pic>
        <p:nvPicPr>
          <p:cNvPr id="5" name="shot-1" descr="Mandap close-u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1840" y="1325880"/>
            <a:ext cx="2560320" cy="1600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291840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Mandap close-up</a:t>
            </a:r>
            <a:endParaRPr lang="en-US" sz="1200" dirty="0"/>
          </a:p>
        </p:txBody>
      </p:sp>
      <p:pic>
        <p:nvPicPr>
          <p:cNvPr id="7" name="shot-2" descr="Midnight Gala them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35040" y="1325880"/>
            <a:ext cx="2560320" cy="160020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035040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Midnight Gala theme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429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Real-time WebGL 3D preview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3291840" y="3429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4 themes · 3 layouts · lighting moods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6035040" y="3429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Capacity check for guest count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39319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Walkthrough + split-screen VR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3291840" y="39319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Auto quote &amp; material estimate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39319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Couple + planner modes with share links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huge, emotional, under-digitised market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37160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~10M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5603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weddings a year in India</a:t>
            </a:r>
            <a:endParaRPr lang="en-US" sz="1500" dirty="0"/>
          </a:p>
        </p:txBody>
      </p:sp>
      <p:sp>
        <p:nvSpPr>
          <p:cNvPr id="6" name="stat-1"/>
          <p:cNvSpPr/>
          <p:nvPr/>
        </p:nvSpPr>
        <p:spPr>
          <a:xfrm>
            <a:off x="3291840" y="137160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474720" y="16002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9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~$130B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5603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annual wedding spend</a:t>
            </a:r>
            <a:endParaRPr lang="en-US" sz="1500" dirty="0"/>
          </a:p>
        </p:txBody>
      </p:sp>
      <p:sp>
        <p:nvSpPr>
          <p:cNvPr id="9" name="stat-2"/>
          <p:cNvSpPr/>
          <p:nvPr/>
        </p:nvSpPr>
        <p:spPr>
          <a:xfrm>
            <a:off x="6035040" y="137160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217920" y="16002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AA6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10–15%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5603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budget goes to décor — our wedge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49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Beachhead: metro planners &amp; décor-led weddings (₹15L–₹1 Cr budgets). Expand to vendors, venues and NRI weddings.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we make money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325880"/>
            <a:ext cx="80467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4" name="icon-bg-model-0"/>
          <p:cNvSpPr/>
          <p:nvPr/>
        </p:nvSpPr>
        <p:spPr>
          <a:xfrm>
            <a:off x="731520" y="1463040"/>
            <a:ext cx="640080" cy="64008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5" name="icon-model-0" descr="model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342" y="1635862"/>
            <a:ext cx="294437" cy="29443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4356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 SaaS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828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5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₹2,999–₹9,999 / month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480560" y="14173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client previews, branded quotes, share links.</a:t>
            </a:r>
            <a:endParaRPr lang="en-US" sz="1400" dirty="0"/>
          </a:p>
        </p:txBody>
      </p:sp>
      <p:sp>
        <p:nvSpPr>
          <p:cNvPr id="9" name="model-1"/>
          <p:cNvSpPr/>
          <p:nvPr/>
        </p:nvSpPr>
        <p:spPr>
          <a:xfrm>
            <a:off x="548640" y="2377440"/>
            <a:ext cx="80467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0" name="icon-bg-model-1"/>
          <p:cNvSpPr/>
          <p:nvPr/>
        </p:nvSpPr>
        <p:spPr>
          <a:xfrm>
            <a:off x="731520" y="2514600"/>
            <a:ext cx="640080" cy="640080"/>
          </a:xfrm>
          <a:prstGeom prst="ellipse">
            <a:avLst/>
          </a:prstGeom>
          <a:solidFill>
            <a:srgbClr val="B98A2E"/>
          </a:solidFill>
          <a:ln w="12700">
            <a:solidFill>
              <a:srgbClr val="B98A2E"/>
            </a:solidFill>
            <a:prstDash val="solid"/>
          </a:ln>
        </p:spPr>
      </p:sp>
      <p:pic>
        <p:nvPicPr>
          <p:cNvPr id="11" name="icon-model-1" descr="model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342" y="2687422"/>
            <a:ext cx="294437" cy="29443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54480" y="24871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lead fees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554480" y="2880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₹1,500–₹4,000 per qualified quote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480560" y="24688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 pay for design-ready, budget-matched leads.</a:t>
            </a:r>
            <a:endParaRPr lang="en-US" sz="1400" dirty="0"/>
          </a:p>
        </p:txBody>
      </p:sp>
      <p:sp>
        <p:nvSpPr>
          <p:cNvPr id="15" name="model-2"/>
          <p:cNvSpPr/>
          <p:nvPr/>
        </p:nvSpPr>
        <p:spPr>
          <a:xfrm>
            <a:off x="548640" y="3429000"/>
            <a:ext cx="80467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6" name="icon-bg-model-2"/>
          <p:cNvSpPr/>
          <p:nvPr/>
        </p:nvSpPr>
        <p:spPr>
          <a:xfrm>
            <a:off x="731520" y="3566160"/>
            <a:ext cx="640080" cy="640080"/>
          </a:xfrm>
          <a:prstGeom prst="ellipse">
            <a:avLst/>
          </a:prstGeom>
          <a:solidFill>
            <a:srgbClr val="3AA68A"/>
          </a:solidFill>
          <a:ln w="12700">
            <a:solidFill>
              <a:srgbClr val="3AA68A"/>
            </a:solidFill>
            <a:prstDash val="solid"/>
          </a:ln>
        </p:spPr>
      </p:sp>
      <p:pic>
        <p:nvPicPr>
          <p:cNvPr id="17" name="icon-model-2" descr="model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342" y="3738982"/>
            <a:ext cx="294437" cy="29443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54480" y="3538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commission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1554480" y="39319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2–4% on bookings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480560" y="35204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booking through the platform.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win</a:t>
            </a:r>
            <a:endParaRPr lang="en-US" sz="3200" dirty="0"/>
          </a:p>
        </p:txBody>
      </p:sp>
      <p:graphicFrame>
        <p:nvGraphicFramePr>
          <p:cNvPr id="9" name="competition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1371600"/>
                <a:gridCol w="137160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Mood boards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marketplaces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 spreadsheets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WedVerse 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Sees YOUR venue in 3D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 theme &amp; layout changes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cost as you design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vendors like-for-like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+ material list from design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Moat: proprietary venue library + planner workflow data + vendor price intelligence.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Go-to-market: planners first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1097280" y="1874520"/>
            <a:ext cx="6949440" cy="0"/>
          </a:xfrm>
          <a:prstGeom prst="line">
            <a:avLst/>
          </a:prstGeom>
          <a:noFill/>
          <a:ln w="25400">
            <a:solidFill>
              <a:srgbClr val="C9BFEA"/>
            </a:solidFill>
            <a:prstDash val="dash"/>
          </a:ln>
        </p:spPr>
      </p:sp>
      <p:sp>
        <p:nvSpPr>
          <p:cNvPr id="4" name="node-0"/>
          <p:cNvSpPr/>
          <p:nvPr/>
        </p:nvSpPr>
        <p:spPr>
          <a:xfrm>
            <a:off x="1097280" y="1645920"/>
            <a:ext cx="457200" cy="457200"/>
          </a:xfrm>
          <a:prstGeom prst="ellipse">
            <a:avLst/>
          </a:prstGeom>
          <a:solidFill>
            <a:srgbClr val="5B52E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188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5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0–6 mo</a:t>
            </a:r>
            <a:endParaRPr lang="en-US" sz="1300" dirty="0"/>
          </a:p>
        </p:txBody>
      </p:sp>
      <p:sp>
        <p:nvSpPr>
          <p:cNvPr id="6" name="gtm-0"/>
          <p:cNvSpPr/>
          <p:nvPr/>
        </p:nvSpPr>
        <p:spPr>
          <a:xfrm>
            <a:off x="548640" y="2377440"/>
            <a:ext cx="256032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7180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50 metro wedding planners free. Collect 200 real venues.</a:t>
            </a:r>
            <a:endParaRPr lang="en-US" sz="1400" dirty="0"/>
          </a:p>
        </p:txBody>
      </p:sp>
      <p:sp>
        <p:nvSpPr>
          <p:cNvPr id="9" name="node-1"/>
          <p:cNvSpPr/>
          <p:nvPr/>
        </p:nvSpPr>
        <p:spPr>
          <a:xfrm>
            <a:off x="3840480" y="1645920"/>
            <a:ext cx="457200" cy="457200"/>
          </a:xfrm>
          <a:prstGeom prst="ellipse">
            <a:avLst/>
          </a:prstGeom>
          <a:solidFill>
            <a:srgbClr val="B98A2E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91840" y="1188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mo</a:t>
            </a:r>
            <a:endParaRPr lang="en-US" sz="1300" dirty="0"/>
          </a:p>
        </p:txBody>
      </p:sp>
      <p:sp>
        <p:nvSpPr>
          <p:cNvPr id="11" name="gtm-1"/>
          <p:cNvSpPr/>
          <p:nvPr/>
        </p:nvSpPr>
        <p:spPr>
          <a:xfrm>
            <a:off x="3291840" y="2377440"/>
            <a:ext cx="256032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47472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Monetise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97180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SaaS tiers + vendor lead marketplace in 3 cities.</a:t>
            </a:r>
            <a:endParaRPr lang="en-US" sz="1400" dirty="0"/>
          </a:p>
        </p:txBody>
      </p:sp>
      <p:sp>
        <p:nvSpPr>
          <p:cNvPr id="14" name="node-2"/>
          <p:cNvSpPr/>
          <p:nvPr/>
        </p:nvSpPr>
        <p:spPr>
          <a:xfrm>
            <a:off x="6583680" y="1645920"/>
            <a:ext cx="457200" cy="457200"/>
          </a:xfrm>
          <a:prstGeom prst="ellipse">
            <a:avLst/>
          </a:prstGeom>
          <a:solidFill>
            <a:srgbClr val="3AA68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0" y="1188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12–24 mo</a:t>
            </a:r>
            <a:endParaRPr lang="en-US" sz="1300" dirty="0"/>
          </a:p>
        </p:txBody>
      </p:sp>
      <p:sp>
        <p:nvSpPr>
          <p:cNvPr id="16" name="gtm-2"/>
          <p:cNvSpPr/>
          <p:nvPr/>
        </p:nvSpPr>
        <p:spPr>
          <a:xfrm>
            <a:off x="6035040" y="2377440"/>
            <a:ext cx="256032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21792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97180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commissions, venue partnerships, NRI &amp; destination weddings.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Projected revenue: ₹0.6 Cr to ₹14.5 Cr in 3 years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4937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kpi-0"/>
          <p:cNvSpPr/>
          <p:nvPr/>
        </p:nvSpPr>
        <p:spPr>
          <a:xfrm>
            <a:off x="5760720" y="1371600"/>
            <a:ext cx="28346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722376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gross margin</a:t>
            </a:r>
            <a:endParaRPr lang="en-US" sz="1300" dirty="0"/>
          </a:p>
        </p:txBody>
      </p:sp>
      <p:sp>
        <p:nvSpPr>
          <p:cNvPr id="7" name="kpi-1"/>
          <p:cNvSpPr/>
          <p:nvPr/>
        </p:nvSpPr>
        <p:spPr>
          <a:xfrm>
            <a:off x="5760720" y="2423160"/>
            <a:ext cx="28346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943600" y="25146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&lt;4 mo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25146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 target</a:t>
            </a:r>
            <a:endParaRPr lang="en-US" sz="1300" dirty="0"/>
          </a:p>
        </p:txBody>
      </p:sp>
      <p:sp>
        <p:nvSpPr>
          <p:cNvPr id="10" name="kpi-2"/>
          <p:cNvSpPr/>
          <p:nvPr/>
        </p:nvSpPr>
        <p:spPr>
          <a:xfrm>
            <a:off x="5760720" y="3474720"/>
            <a:ext cx="28346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4360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3×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: CAC target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₹1.5 Cr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5% equity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A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Cr post-money valuation  ·  18-month runway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576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want beyond cash: wedding-industry distribution, vendor network introductions, and brand credibility.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754880" y="109728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make every wedding a masterpiece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WedVerse AI — See your wedding before you spend on it.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Who's in?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dVerse Pitch">
  <a:themeElements>
    <a:clrScheme name="WedVerse Pitch">
      <a:dk1>
        <a:srgbClr val="1B1033"/>
      </a:dk1>
      <a:lt1>
        <a:srgbClr val="FFFFFF"/>
      </a:lt1>
      <a:dk2>
        <a:srgbClr val="3A2278"/>
      </a:dk2>
      <a:lt2>
        <a:srgbClr val="F4EFFF"/>
      </a:lt2>
      <a:accent1>
        <a:srgbClr val="B98A2E"/>
      </a:accent1>
      <a:accent2>
        <a:srgbClr val="5B52E0"/>
      </a:accent2>
      <a:accent3>
        <a:srgbClr val="E58AA3"/>
      </a:accent3>
      <a:accent4>
        <a:srgbClr val="3AA68A"/>
      </a:accent4>
      <a:accent5>
        <a:srgbClr val="E9C978"/>
      </a:accent5>
      <a:accent6>
        <a:srgbClr val="8B5CF6"/>
      </a:accent6>
      <a:hlink>
        <a:srgbClr val="5B52E0"/>
      </a:hlink>
      <a:folHlink>
        <a:srgbClr val="8B5CF6"/>
      </a:folHlink>
    </a:clrScheme>
    <a:fontScheme name="WedVerse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WedVerse AI — Investor Pitch</dc:title>
  <dc:subject>PptxGenJS Presentation</dc:subject>
  <dc:creator>WedVerse AI</dc:creator>
  <cp:lastModifiedBy>WedVerse AI</cp:lastModifiedBy>
  <cp:revision>1</cp:revision>
  <dcterms:created xsi:type="dcterms:W3CDTF">2026-10-07T10:07:39Z</dcterms:created>
  <dcterms:modified xsi:type="dcterms:W3CDTF">2026-10-07T10:07:39Z</dcterms:modified>
</cp:coreProperties>
</file>