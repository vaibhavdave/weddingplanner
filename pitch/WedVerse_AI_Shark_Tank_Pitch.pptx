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17b5cf4-5bc0-2185-1e3e-7b55e69a20a7}">
          <p14:sldIdLst>
            <p14:sldId id="256"/>
            <p14:sldId id="257"/>
          </p14:sldIdLst>
        </p14:section>
        <p14:section name="Problem &amp; Solution" id="{720318f0-7703-13cc-c4f0-578cbcd08dbe}">
          <p14:sldIdLst>
            <p14:sldId id="258"/>
            <p14:sldId id="259"/>
          </p14:sldIdLst>
        </p14:section>
        <p14:section name="Product" id="{50741608-8431-f3d5-1a6b-a8eb35e09ff9}">
          <p14:sldIdLst>
            <p14:sldId id="260"/>
            <p14:sldId id="261"/>
          </p14:sldIdLst>
        </p14:section>
        <p14:section name="Market &amp; Model" id="{53ae1097-eb4f-56d4-b34e-2aef5af02f4c}">
          <p14:sldIdLst>
            <p14:sldId id="262"/>
            <p14:sldId id="263"/>
          </p14:sldIdLst>
        </p14:section>
        <p14:section name="Edge &amp; Growth" id="{8865a272-99ac-cf5c-bbfa-6f7b5d46efd1}">
          <p14:sldIdLst>
            <p14:sldId id="264"/>
            <p14:sldId id="265"/>
            <p14:sldId id="266"/>
          </p14:sldIdLst>
        </p14:section>
        <p14:section name="The Ask" id="{af7afeed-b30a-c732-cbfc-0693db08f3dc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0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1033"/>
                </a:solidFill>
                <a:latin typeface="Arial"/>
              </a:rPr>
              <a:t>Revenue (₹ Cr) — illustrative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5B52E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</c:v>
                </c:pt>
                <c:pt idx="1">
                  <c:v>4.2</c:v>
                </c:pt>
                <c:pt idx="2">
                  <c:v>14.5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2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Arial"/>
              </a:rPr>
              <a:t>Use of funds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9C978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58AA3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3AA68A"/>
              </a:solidFill>
              <a:ln w="25400" cap="flat">
                <a:solidFill>
                  <a:srgbClr val="1B103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B1033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Product &amp; AI</c:v>
                </c:pt>
                <c:pt idx="1">
                  <c:v>Sales &amp; partnerships</c:v>
                </c:pt>
                <c:pt idx="2">
                  <c:v>Vendor network</c:v>
                </c:pt>
                <c:pt idx="3">
                  <c:v>Ops &amp; legal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(15 sec): "Sharks, a typical Indian family will spend ₹25 lakh on a wedding. Today they sign that cheque before they have seen a single thing. We fix that." Pause,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personal: "Imagine buying a car you can only see after you have paid." Let the number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pains: they cannot see it, they cannot compare it, they cannot control the cost. Planners feel all three,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steps in one breath. Then go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(45 sec): open index.html. Switch theme live, drag guests to 700 to trigger the capacity warning, open Quote. Say: "Every number you see updates from what is in the 3D scene."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through the four themes live. This is the "wow": the couple argues about colours in minutes, not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sizes are widely cited industry estimates — verify and cite your own source before pitching. The wedge is décor: visual, high-ticket, high-regret.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are proposed placeholders — replace with your validated pricing. Lead with SaaS (predictable), vendors (scale), commission (upside).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ready: "Can we not just hire a designer for renders?" — Yes, for ₹30–50k per render, days later. We do unlimited, instant, and attach the quote.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Planners are the distribution: each planner runs 10–40 weddings a year and brings couples + vendors with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illustrative targets, not actuals. Replace with your model before pitching. Expect: "What are your sales today?" — answer honestly (pre-revenue prototype) and pivot to the pilot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ask clearly, once: "₹1.5 crore for 5 percent." Then stop talking. Valuation and split are placeholders — adjust to your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eye contact. Then Q&amp;A. Prep: CAC, pricing proof, why now (3D in browser + AI), defensibility, founder-market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3d" descr="3D preview of a decorated wedding h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hero-fade" descr="img/ov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logo-bg"/>
          <p:cNvSpPr/>
          <p:nvPr/>
        </p:nvSpPr>
        <p:spPr>
          <a:xfrm>
            <a:off x="548640" y="502920"/>
            <a:ext cx="457200" cy="457200"/>
          </a:xfrm>
          <a:prstGeom prst="ellipse">
            <a:avLst/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02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1097280" y="502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WEDVERSE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554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· VISUALIZE · CELEBRATE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548640" y="1828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</a:t>
            </a:r>
            <a:endParaRPr lang="en-US" sz="6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8803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your wedding before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spend on it.</a:t>
            </a:r>
            <a:endParaRPr lang="en-US" sz="2600" dirty="0"/>
          </a:p>
        </p:txBody>
      </p:sp>
      <p:sp>
        <p:nvSpPr>
          <p:cNvPr id="10" name="ask-pill"/>
          <p:cNvSpPr/>
          <p:nvPr/>
        </p:nvSpPr>
        <p:spPr>
          <a:xfrm>
            <a:off x="548640" y="41605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41605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·  ₹1.5 Cr for 5%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₹25 lakh decision with no preview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₹25,00,000</a:t>
            </a:r>
            <a:endParaRPr lang="en-US" sz="7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spend on one big-fat Indian wedding — committed months before anyone sees the décor, the layout or the final bill.</a:t>
            </a:r>
            <a:endParaRPr lang="en-US" sz="1800" dirty="0"/>
          </a:p>
        </p:txBody>
      </p:sp>
      <p:sp>
        <p:nvSpPr>
          <p:cNvPr id="5" name="pain-0"/>
          <p:cNvSpPr/>
          <p:nvPr/>
        </p:nvSpPr>
        <p:spPr>
          <a:xfrm>
            <a:off x="5760720" y="132588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0" y="14356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6733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Photos &amp; Pinterest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Inspiration, not your venue</a:t>
            </a:r>
            <a:endParaRPr lang="en-US" sz="1400" dirty="0"/>
          </a:p>
        </p:txBody>
      </p:sp>
      <p:sp>
        <p:nvSpPr>
          <p:cNvPr id="9" name="pain-1"/>
          <p:cNvSpPr/>
          <p:nvPr/>
        </p:nvSpPr>
        <p:spPr>
          <a:xfrm>
            <a:off x="5760720" y="242316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2532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7706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Verbal quotes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063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compare, easy to inflate</a:t>
            </a:r>
            <a:endParaRPr lang="en-US" sz="1400" dirty="0"/>
          </a:p>
        </p:txBody>
      </p:sp>
      <p:sp>
        <p:nvSpPr>
          <p:cNvPr id="13" name="pain-2"/>
          <p:cNvSpPr/>
          <p:nvPr/>
        </p:nvSpPr>
        <p:spPr>
          <a:xfrm>
            <a:off x="5760720" y="3520440"/>
            <a:ext cx="2834640" cy="960120"/>
          </a:xfrm>
          <a:prstGeom prst="roundRect">
            <a:avLst>
              <a:gd name="adj" fmla="val 13333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0" y="363016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86791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Day-of surprises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isn't what we imagined"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problems every couple faces</a:t>
            </a:r>
            <a:endParaRPr lang="en-US" sz="3200" dirty="0"/>
          </a:p>
        </p:txBody>
      </p:sp>
      <p:sp>
        <p:nvSpPr>
          <p:cNvPr id="3" name="prob-0"/>
          <p:cNvSpPr/>
          <p:nvPr/>
        </p:nvSpPr>
        <p:spPr>
          <a:xfrm>
            <a:off x="5486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9202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icon-bg-prob-0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rgbClr val="E58AA3"/>
          </a:solidFill>
          <a:ln w="12700">
            <a:solidFill>
              <a:srgbClr val="E58AA3"/>
            </a:solidFill>
            <a:prstDash val="solid"/>
          </a:ln>
        </p:spPr>
      </p:sp>
      <p:pic>
        <p:nvPicPr>
          <p:cNvPr id="6" name="icon-prob-0" descr="prob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1739646"/>
            <a:ext cx="315468" cy="3154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Imagination gap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Couples cannot picture their own venue with a theme, layout and lighting.</a:t>
            </a:r>
            <a:endParaRPr lang="en-US" sz="1400" dirty="0"/>
          </a:p>
        </p:txBody>
      </p:sp>
      <p:sp>
        <p:nvSpPr>
          <p:cNvPr id="9" name="prob-1"/>
          <p:cNvSpPr/>
          <p:nvPr/>
        </p:nvSpPr>
        <p:spPr>
          <a:xfrm>
            <a:off x="32918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6634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11" name="icon-bg-prob-1"/>
          <p:cNvSpPr/>
          <p:nvPr/>
        </p:nvSpPr>
        <p:spPr>
          <a:xfrm>
            <a:off x="3520440" y="1554480"/>
            <a:ext cx="685800" cy="68580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12" name="icon-prob-1" descr="prob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06" y="1739646"/>
            <a:ext cx="315468" cy="3154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204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Quote chaos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décor vendor quotes differently. No way to compare like-for-like.</a:t>
            </a:r>
            <a:endParaRPr lang="en-US" sz="1400" dirty="0"/>
          </a:p>
        </p:txBody>
      </p:sp>
      <p:sp>
        <p:nvSpPr>
          <p:cNvPr id="15" name="prob-2"/>
          <p:cNvSpPr/>
          <p:nvPr/>
        </p:nvSpPr>
        <p:spPr>
          <a:xfrm>
            <a:off x="6035040" y="128016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406640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EEE8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17" name="icon-bg-prob-2"/>
          <p:cNvSpPr/>
          <p:nvPr/>
        </p:nvSpPr>
        <p:spPr>
          <a:xfrm>
            <a:off x="6263640" y="1554480"/>
            <a:ext cx="685800" cy="68580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8" name="icon-prob-2" descr="prob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806" y="1739646"/>
            <a:ext cx="315468" cy="3154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63640" y="2514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overruns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after booking cost 20–30% more. Planners juggle it in spreadsheets.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Preview. Optimise. Book.</a:t>
            </a:r>
            <a:endParaRPr lang="en-US" sz="3200" dirty="0"/>
          </a:p>
        </p:txBody>
      </p:sp>
      <p:sp>
        <p:nvSpPr>
          <p:cNvPr id="3" name="icon-bg-step-0"/>
          <p:cNvSpPr/>
          <p:nvPr/>
        </p:nvSpPr>
        <p:spPr>
          <a:xfrm>
            <a:off x="548640" y="128016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4" name="icon-step-0" descr="step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477670"/>
            <a:ext cx="336499" cy="33649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298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your venue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691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floor plan or video become a 3D digital twin.</a:t>
            </a:r>
            <a:endParaRPr lang="en-US" sz="1400" dirty="0"/>
          </a:p>
        </p:txBody>
      </p:sp>
      <p:sp>
        <p:nvSpPr>
          <p:cNvPr id="7" name="icon-bg-step-1"/>
          <p:cNvSpPr/>
          <p:nvPr/>
        </p:nvSpPr>
        <p:spPr>
          <a:xfrm>
            <a:off x="548640" y="2377440"/>
            <a:ext cx="731520" cy="73152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8" name="icon-step-1" descr="step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2574950"/>
            <a:ext cx="336499" cy="3364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3957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it in 3D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7889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themes, layouts and lighting in seconds. Walk it in VR.</a:t>
            </a:r>
            <a:endParaRPr lang="en-US" sz="1400" dirty="0"/>
          </a:p>
        </p:txBody>
      </p:sp>
      <p:sp>
        <p:nvSpPr>
          <p:cNvPr id="11" name="icon-bg-step-2"/>
          <p:cNvSpPr/>
          <p:nvPr/>
        </p:nvSpPr>
        <p:spPr>
          <a:xfrm>
            <a:off x="548640" y="3474720"/>
            <a:ext cx="731520" cy="73152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2" name="icon-step-2" descr="step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3672230"/>
            <a:ext cx="336499" cy="33649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4930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 the budget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886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quote, material list and AI savings ideas as you design.</a:t>
            </a:r>
            <a:endParaRPr lang="en-US" sz="1400" dirty="0"/>
          </a:p>
        </p:txBody>
      </p:sp>
      <p:pic>
        <p:nvPicPr>
          <p:cNvPr id="15" name="solution-shot" descr="3D venue previe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097280"/>
            <a:ext cx="3611880" cy="3611880"/>
          </a:xfrm>
          <a:prstGeom prst="rect">
            <a:avLst/>
          </a:prstGeom>
        </p:spPr>
      </p:pic>
      <p:sp>
        <p:nvSpPr>
          <p:cNvPr id="16" name="solution-frame"/>
          <p:cNvSpPr/>
          <p:nvPr/>
        </p:nvSpPr>
        <p:spPr>
          <a:xfrm>
            <a:off x="4928616" y="1042416"/>
            <a:ext cx="3721608" cy="3721608"/>
          </a:xfrm>
          <a:prstGeom prst="roundRect">
            <a:avLst>
              <a:gd name="adj" fmla="val 4914"/>
            </a:avLst>
          </a:prstGeom>
          <a:ln w="15875">
            <a:solidFill>
              <a:srgbClr val="E9C97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product — not a mock-up</a:t>
            </a:r>
            <a:endParaRPr lang="en-US" sz="3200" dirty="0"/>
          </a:p>
        </p:txBody>
      </p:sp>
      <p:pic>
        <p:nvPicPr>
          <p:cNvPr id="3" name="app-stage" descr="3D venue preview in the WedVerse stud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4663440" cy="2957159"/>
          </a:xfrm>
          <a:prstGeom prst="rect">
            <a:avLst/>
          </a:prstGeom>
        </p:spPr>
      </p:pic>
      <p:sp>
        <p:nvSpPr>
          <p:cNvPr id="4" name="app-stage-frame"/>
          <p:cNvSpPr/>
          <p:nvPr/>
        </p:nvSpPr>
        <p:spPr>
          <a:xfrm>
            <a:off x="493776" y="1133856"/>
            <a:ext cx="4773168" cy="3066887"/>
          </a:xfrm>
          <a:prstGeom prst="roundRect">
            <a:avLst>
              <a:gd name="adj" fmla="val 5963"/>
            </a:avLst>
          </a:prstGeom>
          <a:ln w="15875">
            <a:solidFill>
              <a:srgbClr val="E9C978"/>
            </a:solidFill>
            <a:prstDash val="solid"/>
          </a:ln>
        </p:spPr>
      </p:sp>
      <p:pic>
        <p:nvPicPr>
          <p:cNvPr id="5" name="app-budget" descr="Budget optimizer 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188720"/>
            <a:ext cx="2926080" cy="3149144"/>
          </a:xfrm>
          <a:prstGeom prst="rect">
            <a:avLst/>
          </a:prstGeom>
        </p:spPr>
      </p:pic>
      <p:sp>
        <p:nvSpPr>
          <p:cNvPr id="6" name="app-budget-frame"/>
          <p:cNvSpPr/>
          <p:nvPr/>
        </p:nvSpPr>
        <p:spPr>
          <a:xfrm>
            <a:off x="5522976" y="1133856"/>
            <a:ext cx="3035808" cy="3258872"/>
          </a:xfrm>
          <a:prstGeom prst="roundRect">
            <a:avLst>
              <a:gd name="adj" fmla="val 6024"/>
            </a:avLst>
          </a:prstGeom>
          <a:ln w="15875">
            <a:solidFill>
              <a:srgbClr val="E9C97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297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Live 3D preview · drag, zoom, walk the aisle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40680" y="44805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budget — updates with every change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venue. Four looks. Zero rework</a:t>
            </a:r>
            <a:endParaRPr lang="en-US" sz="3200" dirty="0"/>
          </a:p>
        </p:txBody>
      </p:sp>
      <p:pic>
        <p:nvPicPr>
          <p:cNvPr id="3" name="look-0" descr="Royal Pastel the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0" cy="1706880"/>
          </a:xfrm>
          <a:prstGeom prst="rect">
            <a:avLst/>
          </a:prstGeom>
        </p:spPr>
      </p:pic>
      <p:sp>
        <p:nvSpPr>
          <p:cNvPr id="4" name="chip-bg-0"/>
          <p:cNvSpPr/>
          <p:nvPr/>
        </p:nvSpPr>
        <p:spPr>
          <a:xfrm>
            <a:off x="658368" y="26060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" y="2606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 Pastel</a:t>
            </a:r>
            <a:endParaRPr lang="en-US" sz="1200" dirty="0"/>
          </a:p>
        </p:txBody>
      </p:sp>
      <p:pic>
        <p:nvPicPr>
          <p:cNvPr id="6" name="look-1" descr="Emerald Heritage the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80160"/>
            <a:ext cx="2743200" cy="1706880"/>
          </a:xfrm>
          <a:prstGeom prst="rect">
            <a:avLst/>
          </a:prstGeom>
        </p:spPr>
      </p:pic>
      <p:sp>
        <p:nvSpPr>
          <p:cNvPr id="7" name="chip-bg-1"/>
          <p:cNvSpPr/>
          <p:nvPr/>
        </p:nvSpPr>
        <p:spPr>
          <a:xfrm>
            <a:off x="3538728" y="26060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538728" y="2606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Emerald Heritage</a:t>
            </a:r>
            <a:endParaRPr lang="en-US" sz="1200" dirty="0"/>
          </a:p>
        </p:txBody>
      </p:sp>
      <p:pic>
        <p:nvPicPr>
          <p:cNvPr id="9" name="look-2" descr="Crimson Maharaja the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2743200" cy="1706880"/>
          </a:xfrm>
          <a:prstGeom prst="rect">
            <a:avLst/>
          </a:prstGeom>
        </p:spPr>
      </p:pic>
      <p:sp>
        <p:nvSpPr>
          <p:cNvPr id="10" name="chip-bg-2"/>
          <p:cNvSpPr/>
          <p:nvPr/>
        </p:nvSpPr>
        <p:spPr>
          <a:xfrm>
            <a:off x="658368" y="44348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58368" y="4434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Crimson Maharaja</a:t>
            </a:r>
            <a:endParaRPr lang="en-US" sz="1200" dirty="0"/>
          </a:p>
        </p:txBody>
      </p:sp>
      <p:pic>
        <p:nvPicPr>
          <p:cNvPr id="12" name="look-3" descr="Midnight Gala the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108960"/>
            <a:ext cx="2743200" cy="1706880"/>
          </a:xfrm>
          <a:prstGeom prst="rect">
            <a:avLst/>
          </a:prstGeom>
        </p:spPr>
      </p:pic>
      <p:sp>
        <p:nvSpPr>
          <p:cNvPr id="13" name="chip-bg-3"/>
          <p:cNvSpPr/>
          <p:nvPr/>
        </p:nvSpPr>
        <p:spPr>
          <a:xfrm>
            <a:off x="3538728" y="443484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1B1033">
              <a:alpha val="85000"/>
            </a:srgbClr>
          </a:solidFill>
          <a:ln w="9525">
            <a:solidFill>
              <a:srgbClr val="E9C978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3538728" y="4434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Midnight Gala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583680" y="12801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800" dirty="0"/>
          </a:p>
        </p:txBody>
      </p:sp>
      <p:sp>
        <p:nvSpPr>
          <p:cNvPr id="16" name="Text 10"/>
          <p:cNvSpPr txBox="1"/>
          <p:nvPr/>
        </p:nvSpPr>
        <p:spPr>
          <a:xfrm>
            <a:off x="658368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583680" y="23317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8" name="Text 12"/>
          <p:cNvSpPr txBox="1"/>
          <p:nvPr/>
        </p:nvSpPr>
        <p:spPr>
          <a:xfrm>
            <a:off x="6583680" y="2898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583680" y="33832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&lt;1s</a:t>
            </a:r>
            <a:endParaRPr lang="en-US" sz="3800" dirty="0"/>
          </a:p>
        </p:txBody>
      </p:sp>
      <p:sp>
        <p:nvSpPr>
          <p:cNvPr id="20" name="Text 14"/>
          <p:cNvSpPr txBox="1"/>
          <p:nvPr/>
        </p:nvSpPr>
        <p:spPr>
          <a:xfrm>
            <a:off x="6583680" y="3950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huge, emotional, under-digitised market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~10M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weddings a year in India</a:t>
            </a:r>
            <a:endParaRPr lang="en-US" sz="1500" dirty="0"/>
          </a:p>
        </p:txBody>
      </p:sp>
      <p:sp>
        <p:nvSpPr>
          <p:cNvPr id="6" name="stat-1"/>
          <p:cNvSpPr/>
          <p:nvPr/>
        </p:nvSpPr>
        <p:spPr>
          <a:xfrm>
            <a:off x="32918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20440" y="1508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9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~$130B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 wedding spend</a:t>
            </a:r>
            <a:endParaRPr lang="en-US" sz="1500" dirty="0"/>
          </a:p>
        </p:txBody>
      </p:sp>
      <p:sp>
        <p:nvSpPr>
          <p:cNvPr id="9" name="stat-2"/>
          <p:cNvSpPr/>
          <p:nvPr/>
        </p:nvSpPr>
        <p:spPr>
          <a:xfrm>
            <a:off x="6035040" y="1280160"/>
            <a:ext cx="25603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63640" y="1508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AA6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10–15%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budget goes to décor — our wedge</a:t>
            </a:r>
            <a:endParaRPr lang="en-US" sz="1500" dirty="0"/>
          </a:p>
        </p:txBody>
      </p:sp>
      <p:sp>
        <p:nvSpPr>
          <p:cNvPr id="12" name="beachhead"/>
          <p:cNvSpPr/>
          <p:nvPr/>
        </p:nvSpPr>
        <p:spPr>
          <a:xfrm>
            <a:off x="548640" y="3749040"/>
            <a:ext cx="8046720" cy="777240"/>
          </a:xfrm>
          <a:prstGeom prst="roundRect">
            <a:avLst>
              <a:gd name="adj" fmla="val 16471"/>
            </a:avLst>
          </a:prstGeom>
          <a:solidFill>
            <a:srgbClr val="1B1033"/>
          </a:solidFill>
          <a:ln w="12700">
            <a:solidFill>
              <a:srgbClr val="1B10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4904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metro planners &amp; décor-led weddings (₹15L–₹1 Cr budgets). Then vendors, venues and NRI weddings.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we make money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23444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4" name="icon-bg-model-0"/>
          <p:cNvSpPr/>
          <p:nvPr/>
        </p:nvSpPr>
        <p:spPr>
          <a:xfrm>
            <a:off x="777240" y="1389888"/>
            <a:ext cx="640080" cy="64008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pic>
        <p:nvPicPr>
          <p:cNvPr id="5" name="icon-model-0" descr="model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062" y="1562710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362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 SaaS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764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₹2,999–₹9,999 / month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2588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client previews, branded quotes, share links.</a:t>
            </a:r>
            <a:endParaRPr lang="en-US" sz="1400" dirty="0"/>
          </a:p>
        </p:txBody>
      </p:sp>
      <p:sp>
        <p:nvSpPr>
          <p:cNvPr id="9" name="model-1"/>
          <p:cNvSpPr/>
          <p:nvPr/>
        </p:nvSpPr>
        <p:spPr>
          <a:xfrm>
            <a:off x="548640" y="233172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0" name="icon-bg-model-1"/>
          <p:cNvSpPr/>
          <p:nvPr/>
        </p:nvSpPr>
        <p:spPr>
          <a:xfrm>
            <a:off x="777240" y="2487168"/>
            <a:ext cx="640080" cy="640080"/>
          </a:xfrm>
          <a:prstGeom prst="ellipse">
            <a:avLst/>
          </a:prstGeom>
          <a:solidFill>
            <a:srgbClr val="B98A2E"/>
          </a:solidFill>
          <a:ln w="12700">
            <a:solidFill>
              <a:srgbClr val="B98A2E"/>
            </a:solidFill>
            <a:prstDash val="solid"/>
          </a:ln>
        </p:spPr>
      </p:sp>
      <p:pic>
        <p:nvPicPr>
          <p:cNvPr id="11" name="icon-model-1" descr="model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062" y="2659990"/>
            <a:ext cx="294437" cy="29443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45920" y="24597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Vendor lead fees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645920" y="28620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₹1,500–₹4,000 per qualified quote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24231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pay for design-ready, budget-matched leads.</a:t>
            </a:r>
            <a:endParaRPr lang="en-US" sz="1400" dirty="0"/>
          </a:p>
        </p:txBody>
      </p:sp>
      <p:sp>
        <p:nvSpPr>
          <p:cNvPr id="15" name="model-2"/>
          <p:cNvSpPr/>
          <p:nvPr/>
        </p:nvSpPr>
        <p:spPr>
          <a:xfrm>
            <a:off x="548640" y="3429000"/>
            <a:ext cx="8046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6" name="icon-bg-model-2"/>
          <p:cNvSpPr/>
          <p:nvPr/>
        </p:nvSpPr>
        <p:spPr>
          <a:xfrm>
            <a:off x="777240" y="3584448"/>
            <a:ext cx="640080" cy="640080"/>
          </a:xfrm>
          <a:prstGeom prst="ellipse">
            <a:avLst/>
          </a:prstGeom>
          <a:solidFill>
            <a:srgbClr val="3AA68A"/>
          </a:solidFill>
          <a:ln w="12700">
            <a:solidFill>
              <a:srgbClr val="3AA68A"/>
            </a:solidFill>
            <a:prstDash val="solid"/>
          </a:ln>
        </p:spPr>
      </p:sp>
      <p:pic>
        <p:nvPicPr>
          <p:cNvPr id="17" name="icon-model-2" descr="mod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062" y="3757270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45920" y="35570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commission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1645920" y="395935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2–4% on bookings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63440" y="352044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booking through the platform.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win</a:t>
            </a:r>
            <a:endParaRPr lang="en-US" sz="3200" dirty="0"/>
          </a:p>
        </p:txBody>
      </p:sp>
      <p:graphicFrame>
        <p:nvGraphicFramePr>
          <p:cNvPr id="10" name="competitio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marketplaces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spreadsheets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WedVerse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C9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Sees YOUR venue in 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theme &amp; layout changes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cost as you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vendors like-for-like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+ material list from design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8A7F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AA6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7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Moat: proprietary venue library + planner workflow data + vendor price intelligence.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Go-to-market: planners first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05840" y="1828800"/>
            <a:ext cx="7223760" cy="0"/>
          </a:xfrm>
          <a:prstGeom prst="line">
            <a:avLst/>
          </a:prstGeom>
          <a:noFill/>
          <a:ln w="25400">
            <a:solidFill>
              <a:srgbClr val="C9BFE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5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MONTHS</a:t>
            </a:r>
            <a:endParaRPr lang="en-US" sz="1200" dirty="0"/>
          </a:p>
        </p:txBody>
      </p:sp>
      <p:sp>
        <p:nvSpPr>
          <p:cNvPr id="5" name="node-0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5B52E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gtm-0"/>
          <p:cNvSpPr/>
          <p:nvPr/>
        </p:nvSpPr>
        <p:spPr>
          <a:xfrm>
            <a:off x="5486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50 metro wedding planners free. Collect 200 real venues.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MONTHS</a:t>
            </a:r>
            <a:endParaRPr lang="en-US" sz="1200" dirty="0"/>
          </a:p>
        </p:txBody>
      </p:sp>
      <p:sp>
        <p:nvSpPr>
          <p:cNvPr id="10" name="node-1"/>
          <p:cNvSpPr/>
          <p:nvPr/>
        </p:nvSpPr>
        <p:spPr>
          <a:xfrm>
            <a:off x="3337560" y="1600200"/>
            <a:ext cx="457200" cy="457200"/>
          </a:xfrm>
          <a:prstGeom prst="ellipse">
            <a:avLst/>
          </a:prstGeom>
          <a:solidFill>
            <a:srgbClr val="B98A2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gtm-1"/>
          <p:cNvSpPr/>
          <p:nvPr/>
        </p:nvSpPr>
        <p:spPr>
          <a:xfrm>
            <a:off x="32918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204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SaaS tiers + vendor lead marketplace in 3 cities.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AA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MONTHS</a:t>
            </a:r>
            <a:endParaRPr lang="en-US" sz="1200" dirty="0"/>
          </a:p>
        </p:txBody>
      </p:sp>
      <p:sp>
        <p:nvSpPr>
          <p:cNvPr id="15" name="node-2"/>
          <p:cNvSpPr/>
          <p:nvPr/>
        </p:nvSpPr>
        <p:spPr>
          <a:xfrm>
            <a:off x="6080760" y="1600200"/>
            <a:ext cx="457200" cy="457200"/>
          </a:xfrm>
          <a:prstGeom prst="ellipse">
            <a:avLst/>
          </a:prstGeom>
          <a:solidFill>
            <a:srgbClr val="3AA68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gtm-2"/>
          <p:cNvSpPr/>
          <p:nvPr/>
        </p:nvSpPr>
        <p:spPr>
          <a:xfrm>
            <a:off x="6035040" y="2377440"/>
            <a:ext cx="25603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6364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999232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commissions, venue partnerships, NRI &amp; destination weddings.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Projected revenue: ₹0.6 Cr to ₹14.5 Cr in 3 years</a:t>
            </a:r>
            <a:endParaRPr lang="en-US" sz="2800" dirty="0"/>
          </a:p>
        </p:txBody>
      </p:sp>
      <p:sp>
        <p:nvSpPr>
          <p:cNvPr id="3" name="chart-card"/>
          <p:cNvSpPr/>
          <p:nvPr/>
        </p:nvSpPr>
        <p:spPr>
          <a:xfrm>
            <a:off x="548640" y="1188720"/>
            <a:ext cx="50292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graphicFrame>
        <p:nvGraphicFramePr>
          <p:cNvPr id="4" name="Chart 0" descr=""/>
          <p:cNvGraphicFramePr/>
          <p:nvPr/>
        </p:nvGraphicFramePr>
        <p:xfrm>
          <a:off x="685800" y="1280160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-0"/>
          <p:cNvSpPr/>
          <p:nvPr/>
        </p:nvSpPr>
        <p:spPr>
          <a:xfrm>
            <a:off x="5806440" y="1188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89320" y="1280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280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gross margin</a:t>
            </a:r>
            <a:endParaRPr lang="en-US" sz="1400" dirty="0"/>
          </a:p>
        </p:txBody>
      </p:sp>
      <p:sp>
        <p:nvSpPr>
          <p:cNvPr id="8" name="kpi-1"/>
          <p:cNvSpPr/>
          <p:nvPr/>
        </p:nvSpPr>
        <p:spPr>
          <a:xfrm>
            <a:off x="5806440" y="2331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989320" y="2423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 mo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2423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target</a:t>
            </a:r>
            <a:endParaRPr lang="en-US" sz="1400" dirty="0"/>
          </a:p>
        </p:txBody>
      </p:sp>
      <p:sp>
        <p:nvSpPr>
          <p:cNvPr id="11" name="kpi-2"/>
          <p:cNvSpPr/>
          <p:nvPr/>
        </p:nvSpPr>
        <p:spPr>
          <a:xfrm>
            <a:off x="5806440" y="3474720"/>
            <a:ext cx="27889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9525">
            <a:solidFill>
              <a:srgbClr val="E6DEFA"/>
            </a:solidFill>
            <a:prstDash val="solid"/>
          </a:ln>
          <a:effectLst>
            <a:outerShdw sx="100000" sy="100000" kx="0" ky="0" algn="bl" rotWithShape="0" blurRad="101600" dist="25400" dir="5400000">
              <a:srgbClr val="1B1033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89320" y="35661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52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35661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: CAC target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FB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₹1.5 Cr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5% equity</a:t>
            </a:r>
            <a:endParaRPr lang="en-US" sz="2600" dirty="0"/>
          </a:p>
        </p:txBody>
      </p:sp>
      <p:sp>
        <p:nvSpPr>
          <p:cNvPr id="5" name="val-card"/>
          <p:cNvSpPr/>
          <p:nvPr/>
        </p:nvSpPr>
        <p:spPr>
          <a:xfrm>
            <a:off x="548640" y="3063240"/>
            <a:ext cx="4023360" cy="502920"/>
          </a:xfrm>
          <a:prstGeom prst="roundRect">
            <a:avLst>
              <a:gd name="adj" fmla="val 25455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E9C978">
                <a:alpha val="5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63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C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 post-money  ·  18-month runway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cash: wedding-industry distribution, vendor introductions and brand credibility.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846320" y="1051560"/>
          <a:ext cx="3840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e-3d" descr="3D mand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close-tint" descr="img/ov-t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every wedding a masterpiece</a:t>
            </a:r>
            <a:endParaRPr lang="en-US" sz="46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9C9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WedVerse AI — See your wedding before you spend on it.</a:t>
            </a:r>
            <a:endParaRPr lang="en-US" sz="2000" dirty="0"/>
          </a:p>
        </p:txBody>
      </p:sp>
      <p:sp>
        <p:nvSpPr>
          <p:cNvPr id="6" name="close-pill"/>
          <p:cNvSpPr/>
          <p:nvPr/>
        </p:nvSpPr>
        <p:spPr>
          <a:xfrm>
            <a:off x="3657600" y="38404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9C978"/>
          </a:solidFill>
          <a:ln w="12700">
            <a:solidFill>
              <a:srgbClr val="E9C97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657600" y="38404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AED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dVerse Pitch">
  <a:themeElements>
    <a:clrScheme name="WedVerse Pitch">
      <a:dk1>
        <a:srgbClr val="1B1033"/>
      </a:dk1>
      <a:lt1>
        <a:srgbClr val="FFFFFF"/>
      </a:lt1>
      <a:dk2>
        <a:srgbClr val="3A2278"/>
      </a:dk2>
      <a:lt2>
        <a:srgbClr val="F4EFFF"/>
      </a:lt2>
      <a:accent1>
        <a:srgbClr val="B98A2E"/>
      </a:accent1>
      <a:accent2>
        <a:srgbClr val="5B52E0"/>
      </a:accent2>
      <a:accent3>
        <a:srgbClr val="E58AA3"/>
      </a:accent3>
      <a:accent4>
        <a:srgbClr val="3AA68A"/>
      </a:accent4>
      <a:accent5>
        <a:srgbClr val="E9C978"/>
      </a:accent5>
      <a:accent6>
        <a:srgbClr val="8B5CF6"/>
      </a:accent6>
      <a:hlink>
        <a:srgbClr val="5B52E0"/>
      </a:hlink>
      <a:folHlink>
        <a:srgbClr val="8B5CF6"/>
      </a:folHlink>
    </a:clrScheme>
    <a:fontScheme name="WedVerse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WedVerse AI — Investor Pitch</dc:title>
  <dc:subject>PptxGenJS Presentation</dc:subject>
  <dc:creator>WedVerse AI</dc:creator>
  <cp:lastModifiedBy>WedVerse AI</cp:lastModifiedBy>
  <cp:revision>1</cp:revision>
  <dcterms:created xsi:type="dcterms:W3CDTF">2026-10-07T10:20:41Z</dcterms:created>
  <dcterms:modified xsi:type="dcterms:W3CDTF">2026-10-07T10:20:41Z</dcterms:modified>
</cp:coreProperties>
</file>