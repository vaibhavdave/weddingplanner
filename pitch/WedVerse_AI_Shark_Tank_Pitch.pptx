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a8de646-a078-af78-a631-00a683ab6bff}">
          <p14:sldIdLst>
            <p14:sldId id="256"/>
            <p14:sldId id="257"/>
          </p14:sldIdLst>
        </p14:section>
        <p14:section name="Problem &amp; Solution" id="{2525e38f-18b1-84f2-accc-a958a5d9d3e5}">
          <p14:sldIdLst>
            <p14:sldId id="258"/>
            <p14:sldId id="259"/>
          </p14:sldIdLst>
        </p14:section>
        <p14:section name="Product" id="{ed2f10d3-5201-edf8-3bd4-bef29319a55b}">
          <p14:sldIdLst>
            <p14:sldId id="260"/>
            <p14:sldId id="261"/>
          </p14:sldIdLst>
        </p14:section>
        <p14:section name="Market &amp; Model" id="{fa7d15f3-866c-9c56-c3fd-c35d3b2f01f1}">
          <p14:sldIdLst>
            <p14:sldId id="262"/>
            <p14:sldId id="263"/>
          </p14:sldIdLst>
        </p14:section>
        <p14:section name="Edge &amp; Growth" id="{eee94041-73f6-4750-1d43-72485b28be14}">
          <p14:sldIdLst>
            <p14:sldId id="264"/>
            <p14:sldId id="265"/>
            <p14:sldId id="266"/>
          </p14:sldIdLst>
        </p14:section>
        <p14:section name="The Ask" id="{c60e51b7-969d-a6c8-3758-8934c43d9594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03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033"/>
                </a:solidFill>
                <a:latin typeface="+mn-lt"/>
              </a:rPr>
              <a:t>Revenue (₹ Cr) — illustrative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(₹ Cr)</c:v>
                </c:pt>
              </c:strCache>
            </c:strRef>
          </c:tx>
          <c:spPr>
            <a:solidFill>
              <a:srgbClr val="5B52E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10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</c:v>
                </c:pt>
                <c:pt idx="1">
                  <c:v>4.2</c:v>
                </c:pt>
                <c:pt idx="2">
                  <c:v>14.5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B10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22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FFFFFF"/>
                </a:solidFill>
                <a:latin typeface="+mn-lt"/>
              </a:rPr>
              <a:t>Use of funds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Use of funds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9C978"/>
              </a:solidFill>
              <a:ln w="25400" cap="flat">
                <a:solidFill>
                  <a:srgbClr val="1B103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8B5CF6"/>
              </a:solidFill>
              <a:ln w="25400" cap="flat">
                <a:solidFill>
                  <a:srgbClr val="1B1033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58AA3"/>
              </a:solidFill>
              <a:ln w="25400" cap="flat">
                <a:solidFill>
                  <a:srgbClr val="1B1033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3AA68A"/>
              </a:solidFill>
              <a:ln w="25400" cap="flat">
                <a:solidFill>
                  <a:srgbClr val="1B103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B1033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B1033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B1033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B1033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Product &amp; AI</c:v>
                </c:pt>
                <c:pt idx="1">
                  <c:v>Sales &amp; partnerships</c:v>
                </c:pt>
                <c:pt idx="2">
                  <c:v>Vendor network</c:v>
                </c:pt>
                <c:pt idx="3">
                  <c:v>Ops &amp; legal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40</c:v>
                </c:pt>
                <c:pt idx="1">
                  <c:v>30</c:v>
                </c:pt>
                <c:pt idx="2">
                  <c:v>15</c:v>
                </c:pt>
                <c:pt idx="3">
                  <c:v>15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FFFFF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(15 sec): "Sharks, a typical Indian family will spend ₹25 lakh on a wedding. Today they sign that cheque before they have seen a single thing. We fix that." Pause,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it personal: "Imagine buying a car you can only see after you have paid." Let the number land.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pains: they cannot see it, they cannot compare it, they cannot control the cost. Planners feel all three, every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three steps in one breath. Then go to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(45 sec): open index.html. Switch theme live, drag guests to 700 to trigger the capacity warning, open Quote. Say: "Every number you see updates from what is in the scene."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Couples argue about colours for weeks. With WedVerse they compare four complete looks in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sizes are widely cited industry estimates — verify and cite your own source before pitching. The wedge is décor: visual, high-ticket, high-regret.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Prices are proposed placeholders — replace with your validated pricing. Lead with SaaS (predictable), vendors (scale), commission (upside).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ready: "Can we not just hire a designer for renders?" — Yes, for ₹30–50k per render, days later. We do unlimited, instant, and attach the quote.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Planners are the distribution: each planner runs 10–40 weddings a year and brings couples + vendors with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figures are illustrative targets, not actuals. Replace with your model before pitching. Expect: "What are your sales today?" — answer honestly (pre-revenue prototype) and pivot to the pilot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ask clearly, once: "₹1.5 crore for 5 percent." Then stop talking. Valuation and split are placeholders — adjust to your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eye contact. Then Q&amp;A. Prep: CAC, pricing proof, why now (browser-based visualisation + AI), defensibility, founder-market fit.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DARK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LIGHT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-4.6"/>
          <p:cNvSpPr/>
          <p:nvPr/>
        </p:nvSpPr>
        <p:spPr>
          <a:xfrm>
            <a:off x="4480560" y="457200"/>
            <a:ext cx="4206240" cy="4206240"/>
          </a:xfrm>
          <a:prstGeom prst="ellipse">
            <a:avLst/>
          </a:prstGeom>
          <a:ln w="12700">
            <a:solidFill>
              <a:srgbClr val="E9C978">
                <a:alpha val="18000"/>
              </a:srgbClr>
            </a:solidFill>
            <a:prstDash val="solid"/>
          </a:ln>
        </p:spPr>
      </p:sp>
      <p:sp>
        <p:nvSpPr>
          <p:cNvPr id="3" name="ring-3.4"/>
          <p:cNvSpPr/>
          <p:nvPr/>
        </p:nvSpPr>
        <p:spPr>
          <a:xfrm>
            <a:off x="5029200" y="1005840"/>
            <a:ext cx="3108960" cy="3108960"/>
          </a:xfrm>
          <a:prstGeom prst="ellipse">
            <a:avLst/>
          </a:prstGeom>
          <a:ln w="12700">
            <a:solidFill>
              <a:srgbClr val="E9C978">
                <a:alpha val="30000"/>
              </a:srgbClr>
            </a:solidFill>
            <a:prstDash val="solid"/>
          </a:ln>
        </p:spPr>
      </p:sp>
      <p:sp>
        <p:nvSpPr>
          <p:cNvPr id="4" name="ring-2.2"/>
          <p:cNvSpPr/>
          <p:nvPr/>
        </p:nvSpPr>
        <p:spPr>
          <a:xfrm>
            <a:off x="5577840" y="1554480"/>
            <a:ext cx="2011680" cy="2011680"/>
          </a:xfrm>
          <a:prstGeom prst="ellipse">
            <a:avLst/>
          </a:prstGeom>
          <a:ln w="12700">
            <a:solidFill>
              <a:srgbClr val="E9C978">
                <a:alpha val="45000"/>
              </a:srgbClr>
            </a:solidFill>
            <a:prstDash val="solid"/>
          </a:ln>
        </p:spPr>
      </p:sp>
      <p:sp>
        <p:nvSpPr>
          <p:cNvPr id="5" name="hero-core"/>
          <p:cNvSpPr/>
          <p:nvPr/>
        </p:nvSpPr>
        <p:spPr>
          <a:xfrm>
            <a:off x="6035040" y="2011680"/>
            <a:ext cx="1097280" cy="1097280"/>
          </a:xfrm>
          <a:prstGeom prst="ellipse">
            <a:avLst/>
          </a:prstGeom>
          <a:solidFill>
            <a:srgbClr val="E9C978"/>
          </a:solidFill>
          <a:ln w="12700">
            <a:solidFill>
              <a:srgbClr val="E9C978"/>
            </a:solidFill>
            <a:prstDash val="solid"/>
          </a:ln>
          <a:effectLst>
            <a:outerShdw sx="100000" sy="100000" kx="0" ky="0" algn="bl" rotWithShape="0" blurRad="304800" dist="50800" dir="5400000">
              <a:srgbClr val="E9C978">
                <a:alpha val="4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035040" y="20116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4400" dirty="0"/>
          </a:p>
        </p:txBody>
      </p:sp>
      <p:sp>
        <p:nvSpPr>
          <p:cNvPr id="7" name="icon-bg-orb-FaRupeeSign"/>
          <p:cNvSpPr/>
          <p:nvPr/>
        </p:nvSpPr>
        <p:spPr>
          <a:xfrm>
            <a:off x="7818120" y="1143000"/>
            <a:ext cx="640080" cy="640080"/>
          </a:xfrm>
          <a:prstGeom prst="ellipse">
            <a:avLst/>
          </a:prstGeom>
          <a:solidFill>
            <a:srgbClr val="5B52E0"/>
          </a:solidFill>
          <a:ln w="12700">
            <a:solidFill>
              <a:srgbClr val="5B52E0"/>
            </a:solidFill>
            <a:prstDash val="solid"/>
          </a:ln>
        </p:spPr>
      </p:sp>
      <p:pic>
        <p:nvPicPr>
          <p:cNvPr id="8" name="icon-orb-FaRupeeSign" descr="orb-FaRupeeSig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90942" y="1315822"/>
            <a:ext cx="294437" cy="294437"/>
          </a:xfrm>
          <a:prstGeom prst="rect">
            <a:avLst/>
          </a:prstGeom>
        </p:spPr>
      </p:pic>
      <p:sp>
        <p:nvSpPr>
          <p:cNvPr id="9" name="icon-bg-orb-FaPalette"/>
          <p:cNvSpPr/>
          <p:nvPr/>
        </p:nvSpPr>
        <p:spPr>
          <a:xfrm>
            <a:off x="5074920" y="1554480"/>
            <a:ext cx="640080" cy="640080"/>
          </a:xfrm>
          <a:prstGeom prst="ellipse">
            <a:avLst/>
          </a:prstGeom>
          <a:solidFill>
            <a:srgbClr val="E58AA3"/>
          </a:solidFill>
          <a:ln w="12700">
            <a:solidFill>
              <a:srgbClr val="E58AA3"/>
            </a:solidFill>
            <a:prstDash val="solid"/>
          </a:ln>
        </p:spPr>
      </p:sp>
      <p:pic>
        <p:nvPicPr>
          <p:cNvPr id="10" name="icon-orb-FaPalette" descr="orb-FaPal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7742" y="1727302"/>
            <a:ext cx="294437" cy="294437"/>
          </a:xfrm>
          <a:prstGeom prst="rect">
            <a:avLst/>
          </a:prstGeom>
        </p:spPr>
      </p:pic>
      <p:sp>
        <p:nvSpPr>
          <p:cNvPr id="11" name="icon-bg-orb-FaUsers"/>
          <p:cNvSpPr/>
          <p:nvPr/>
        </p:nvSpPr>
        <p:spPr>
          <a:xfrm>
            <a:off x="7589520" y="3931920"/>
            <a:ext cx="640080" cy="640080"/>
          </a:xfrm>
          <a:prstGeom prst="ellipse">
            <a:avLst/>
          </a:prstGeom>
          <a:solidFill>
            <a:srgbClr val="3AA68A"/>
          </a:solidFill>
          <a:ln w="12700">
            <a:solidFill>
              <a:srgbClr val="3AA68A"/>
            </a:solidFill>
            <a:prstDash val="solid"/>
          </a:ln>
        </p:spPr>
      </p:sp>
      <p:pic>
        <p:nvPicPr>
          <p:cNvPr id="12" name="icon-orb-FaUsers" descr="orb-Fa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2342" y="4104742"/>
            <a:ext cx="294437" cy="294437"/>
          </a:xfrm>
          <a:prstGeom prst="rect">
            <a:avLst/>
          </a:prstGeom>
        </p:spPr>
      </p:pic>
      <p:sp>
        <p:nvSpPr>
          <p:cNvPr id="13" name="icon-bg-orb-FaMagic"/>
          <p:cNvSpPr/>
          <p:nvPr/>
        </p:nvSpPr>
        <p:spPr>
          <a:xfrm>
            <a:off x="5394960" y="3840480"/>
            <a:ext cx="640080" cy="6400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14" name="icon-orb-FaMagic" descr="orb-FaMagic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7782" y="4013302"/>
            <a:ext cx="294437" cy="294437"/>
          </a:xfrm>
          <a:prstGeom prst="rect">
            <a:avLst/>
          </a:prstGeom>
        </p:spPr>
      </p:pic>
      <p:sp>
        <p:nvSpPr>
          <p:cNvPr id="15" name="logo-bg"/>
          <p:cNvSpPr/>
          <p:nvPr/>
        </p:nvSpPr>
        <p:spPr>
          <a:xfrm>
            <a:off x="548640" y="502920"/>
            <a:ext cx="457200" cy="457200"/>
          </a:xfrm>
          <a:prstGeom prst="ellipse">
            <a:avLst/>
          </a:prstGeom>
          <a:solidFill>
            <a:srgbClr val="E9C978"/>
          </a:solidFill>
          <a:ln w="12700">
            <a:solidFill>
              <a:srgbClr val="E9C97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48640" y="502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800" dirty="0"/>
          </a:p>
        </p:txBody>
      </p:sp>
      <p:sp>
        <p:nvSpPr>
          <p:cNvPr id="17" name="Text 11"/>
          <p:cNvSpPr txBox="1"/>
          <p:nvPr/>
        </p:nvSpPr>
        <p:spPr>
          <a:xfrm>
            <a:off x="1097280" y="502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WEDVERSE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548640" y="1554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E9C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· VISUALIZE · CELEBRATE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548640" y="18288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WedVerse AI</a:t>
            </a:r>
            <a:endParaRPr lang="en-US" sz="64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28803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your wedding before</a:t>
            </a:r>
            <a:endParaRPr lang="en-US" sz="2600" dirty="0"/>
          </a:p>
          <a:p>
            <a:pPr indent="0" marL="0"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spend on it.</a:t>
            </a:r>
            <a:endParaRPr lang="en-US" sz="2600" dirty="0"/>
          </a:p>
        </p:txBody>
      </p:sp>
      <p:sp>
        <p:nvSpPr>
          <p:cNvPr id="21" name="ask-pill"/>
          <p:cNvSpPr/>
          <p:nvPr/>
        </p:nvSpPr>
        <p:spPr>
          <a:xfrm>
            <a:off x="548640" y="41605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E9C978"/>
          </a:solidFill>
          <a:ln w="12700">
            <a:solidFill>
              <a:srgbClr val="E9C978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48640" y="41605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  ·  ₹1.5 Cr for 5%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₹25 lakh decision with no preview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E9C9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₹25,00,000</a:t>
            </a:r>
            <a:endParaRPr lang="en-US" sz="7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spend on one big-fat Indian wedding — committed months before anyone sees the décor, the layout or the final bill.</a:t>
            </a:r>
            <a:endParaRPr lang="en-US" sz="1800" dirty="0"/>
          </a:p>
        </p:txBody>
      </p:sp>
      <p:sp>
        <p:nvSpPr>
          <p:cNvPr id="5" name="pain-0"/>
          <p:cNvSpPr/>
          <p:nvPr/>
        </p:nvSpPr>
        <p:spPr>
          <a:xfrm>
            <a:off x="5760720" y="1325880"/>
            <a:ext cx="2834640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E9C978">
                <a:alpha val="55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0" y="14356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C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16733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Photos &amp; Pinterest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943600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Inspiration, not your venue</a:t>
            </a:r>
            <a:endParaRPr lang="en-US" sz="1400" dirty="0"/>
          </a:p>
        </p:txBody>
      </p:sp>
      <p:sp>
        <p:nvSpPr>
          <p:cNvPr id="9" name="pain-1"/>
          <p:cNvSpPr/>
          <p:nvPr/>
        </p:nvSpPr>
        <p:spPr>
          <a:xfrm>
            <a:off x="5760720" y="2423160"/>
            <a:ext cx="2834640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E9C978">
                <a:alpha val="55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0" y="25328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C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27706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Verbal quotes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30632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compare, easy to inflate</a:t>
            </a:r>
            <a:endParaRPr lang="en-US" sz="1400" dirty="0"/>
          </a:p>
        </p:txBody>
      </p:sp>
      <p:sp>
        <p:nvSpPr>
          <p:cNvPr id="13" name="pain-2"/>
          <p:cNvSpPr/>
          <p:nvPr/>
        </p:nvSpPr>
        <p:spPr>
          <a:xfrm>
            <a:off x="5760720" y="3520440"/>
            <a:ext cx="2834640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E9C978">
                <a:alpha val="55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0" y="3630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C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386791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Day-of surprises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0" y="41605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"This isn't what we imagined"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problems every couple faces</a:t>
            </a:r>
            <a:endParaRPr lang="en-US" sz="3200" dirty="0"/>
          </a:p>
        </p:txBody>
      </p:sp>
      <p:sp>
        <p:nvSpPr>
          <p:cNvPr id="3" name="prob-0"/>
          <p:cNvSpPr/>
          <p:nvPr/>
        </p:nvSpPr>
        <p:spPr>
          <a:xfrm>
            <a:off x="548640" y="1280160"/>
            <a:ext cx="25603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920240" y="137160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EEE8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icon-bg-prob-0"/>
          <p:cNvSpPr/>
          <p:nvPr/>
        </p:nvSpPr>
        <p:spPr>
          <a:xfrm>
            <a:off x="777240" y="1554480"/>
            <a:ext cx="685800" cy="685800"/>
          </a:xfrm>
          <a:prstGeom prst="ellipse">
            <a:avLst/>
          </a:prstGeom>
          <a:solidFill>
            <a:srgbClr val="E58AA3"/>
          </a:solidFill>
          <a:ln w="12700">
            <a:solidFill>
              <a:srgbClr val="E58AA3"/>
            </a:solidFill>
            <a:prstDash val="solid"/>
          </a:ln>
        </p:spPr>
      </p:sp>
      <p:pic>
        <p:nvPicPr>
          <p:cNvPr id="6" name="icon-prob-0" descr="prob-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406" y="1739646"/>
            <a:ext cx="315468" cy="3154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514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Imagination gap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971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Couples cannot picture their own venue with a theme, layout and lighting.</a:t>
            </a:r>
            <a:endParaRPr lang="en-US" sz="1400" dirty="0"/>
          </a:p>
        </p:txBody>
      </p:sp>
      <p:sp>
        <p:nvSpPr>
          <p:cNvPr id="9" name="prob-1"/>
          <p:cNvSpPr/>
          <p:nvPr/>
        </p:nvSpPr>
        <p:spPr>
          <a:xfrm>
            <a:off x="3291840" y="1280160"/>
            <a:ext cx="25603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663440" y="137160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EEE8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5400" dirty="0"/>
          </a:p>
        </p:txBody>
      </p:sp>
      <p:sp>
        <p:nvSpPr>
          <p:cNvPr id="11" name="icon-bg-prob-1"/>
          <p:cNvSpPr/>
          <p:nvPr/>
        </p:nvSpPr>
        <p:spPr>
          <a:xfrm>
            <a:off x="3520440" y="1554480"/>
            <a:ext cx="685800" cy="685800"/>
          </a:xfrm>
          <a:prstGeom prst="ellipse">
            <a:avLst/>
          </a:prstGeom>
          <a:solidFill>
            <a:srgbClr val="5B52E0"/>
          </a:solidFill>
          <a:ln w="12700">
            <a:solidFill>
              <a:srgbClr val="5B52E0"/>
            </a:solidFill>
            <a:prstDash val="solid"/>
          </a:ln>
        </p:spPr>
      </p:sp>
      <p:pic>
        <p:nvPicPr>
          <p:cNvPr id="12" name="icon-prob-1" descr="prob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606" y="1739646"/>
            <a:ext cx="315468" cy="31546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20440" y="2514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Quote chaos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3520440" y="2971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décor vendor quotes differently. No way to compare like-for-like.</a:t>
            </a:r>
            <a:endParaRPr lang="en-US" sz="1400" dirty="0"/>
          </a:p>
        </p:txBody>
      </p:sp>
      <p:sp>
        <p:nvSpPr>
          <p:cNvPr id="15" name="prob-2"/>
          <p:cNvSpPr/>
          <p:nvPr/>
        </p:nvSpPr>
        <p:spPr>
          <a:xfrm>
            <a:off x="6035040" y="1280160"/>
            <a:ext cx="25603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406640" y="137160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EEE8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5400" dirty="0"/>
          </a:p>
        </p:txBody>
      </p:sp>
      <p:sp>
        <p:nvSpPr>
          <p:cNvPr id="17" name="icon-bg-prob-2"/>
          <p:cNvSpPr/>
          <p:nvPr/>
        </p:nvSpPr>
        <p:spPr>
          <a:xfrm>
            <a:off x="6263640" y="1554480"/>
            <a:ext cx="685800" cy="685800"/>
          </a:xfrm>
          <a:prstGeom prst="ellipse">
            <a:avLst/>
          </a:prstGeom>
          <a:solidFill>
            <a:srgbClr val="B98A2E"/>
          </a:solidFill>
          <a:ln w="12700">
            <a:solidFill>
              <a:srgbClr val="B98A2E"/>
            </a:solidFill>
            <a:prstDash val="solid"/>
          </a:ln>
        </p:spPr>
      </p:sp>
      <p:pic>
        <p:nvPicPr>
          <p:cNvPr id="18" name="icon-prob-2" descr="prob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8806" y="1739646"/>
            <a:ext cx="315468" cy="3154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263640" y="2514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overruns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6263640" y="2971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after booking cost 20–30% more. Planners juggle it in spreadsheets.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Preview. Optimise. Book.</a:t>
            </a:r>
            <a:endParaRPr lang="en-US" sz="3200" dirty="0"/>
          </a:p>
        </p:txBody>
      </p:sp>
      <p:sp>
        <p:nvSpPr>
          <p:cNvPr id="3" name="flow-line"/>
          <p:cNvSpPr/>
          <p:nvPr/>
        </p:nvSpPr>
        <p:spPr>
          <a:xfrm>
            <a:off x="1371600" y="1783080"/>
            <a:ext cx="6400800" cy="0"/>
          </a:xfrm>
          <a:prstGeom prst="line">
            <a:avLst/>
          </a:prstGeom>
          <a:noFill/>
          <a:ln w="25400">
            <a:solidFill>
              <a:srgbClr val="C9BFEA"/>
            </a:solidFill>
            <a:prstDash val="dash"/>
          </a:ln>
        </p:spPr>
      </p:sp>
      <p:sp>
        <p:nvSpPr>
          <p:cNvPr id="4" name="icon-bg-step-0"/>
          <p:cNvSpPr/>
          <p:nvPr/>
        </p:nvSpPr>
        <p:spPr>
          <a:xfrm>
            <a:off x="1463040" y="1417320"/>
            <a:ext cx="731520" cy="731520"/>
          </a:xfrm>
          <a:prstGeom prst="ellipse">
            <a:avLst/>
          </a:prstGeom>
          <a:solidFill>
            <a:srgbClr val="5B52E0"/>
          </a:solidFill>
          <a:ln w="12700">
            <a:solidFill>
              <a:srgbClr val="5B52E0"/>
            </a:solidFill>
            <a:prstDash val="solid"/>
          </a:ln>
        </p:spPr>
      </p:sp>
      <p:pic>
        <p:nvPicPr>
          <p:cNvPr id="5" name="icon-step-0" descr="step-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0550" y="1614830"/>
            <a:ext cx="336499" cy="336499"/>
          </a:xfrm>
          <a:prstGeom prst="rect">
            <a:avLst/>
          </a:prstGeom>
        </p:spPr>
      </p:pic>
      <p:sp>
        <p:nvSpPr>
          <p:cNvPr id="6" name="step-card-0"/>
          <p:cNvSpPr/>
          <p:nvPr/>
        </p:nvSpPr>
        <p:spPr>
          <a:xfrm>
            <a:off x="548640" y="2423160"/>
            <a:ext cx="256032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Upload venue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99923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Photos, floor plan or video become a digital twin of your hall.</a:t>
            </a:r>
            <a:endParaRPr lang="en-US" sz="1400" dirty="0"/>
          </a:p>
        </p:txBody>
      </p:sp>
      <p:sp>
        <p:nvSpPr>
          <p:cNvPr id="9" name="icon-bg-step-1"/>
          <p:cNvSpPr/>
          <p:nvPr/>
        </p:nvSpPr>
        <p:spPr>
          <a:xfrm>
            <a:off x="4206240" y="1417320"/>
            <a:ext cx="731520" cy="731520"/>
          </a:xfrm>
          <a:prstGeom prst="ellipse">
            <a:avLst/>
          </a:prstGeom>
          <a:solidFill>
            <a:srgbClr val="B98A2E"/>
          </a:solidFill>
          <a:ln w="12700">
            <a:solidFill>
              <a:srgbClr val="B98A2E"/>
            </a:solidFill>
            <a:prstDash val="solid"/>
          </a:ln>
        </p:spPr>
      </p:sp>
      <p:pic>
        <p:nvPicPr>
          <p:cNvPr id="10" name="icon-step-1" descr="step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3750" y="1614830"/>
            <a:ext cx="336499" cy="336499"/>
          </a:xfrm>
          <a:prstGeom prst="rect">
            <a:avLst/>
          </a:prstGeom>
        </p:spPr>
      </p:pic>
      <p:sp>
        <p:nvSpPr>
          <p:cNvPr id="11" name="step-card-1"/>
          <p:cNvSpPr/>
          <p:nvPr/>
        </p:nvSpPr>
        <p:spPr>
          <a:xfrm>
            <a:off x="3291840" y="2423160"/>
            <a:ext cx="256032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47472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Design the day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3474720" y="299923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themes, layouts and lighting in seconds. Walk it in VR.</a:t>
            </a:r>
            <a:endParaRPr lang="en-US" sz="1400" dirty="0"/>
          </a:p>
        </p:txBody>
      </p:sp>
      <p:sp>
        <p:nvSpPr>
          <p:cNvPr id="14" name="icon-bg-step-2"/>
          <p:cNvSpPr/>
          <p:nvPr/>
        </p:nvSpPr>
        <p:spPr>
          <a:xfrm>
            <a:off x="6949440" y="1417320"/>
            <a:ext cx="731520" cy="731520"/>
          </a:xfrm>
          <a:prstGeom prst="ellipse">
            <a:avLst/>
          </a:prstGeom>
          <a:solidFill>
            <a:srgbClr val="3AA68A"/>
          </a:solidFill>
          <a:ln w="12700">
            <a:solidFill>
              <a:srgbClr val="3AA68A"/>
            </a:solidFill>
            <a:prstDash val="solid"/>
          </a:ln>
        </p:spPr>
      </p:sp>
      <p:pic>
        <p:nvPicPr>
          <p:cNvPr id="15" name="icon-step-2" descr="step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6950" y="1614830"/>
            <a:ext cx="336499" cy="336499"/>
          </a:xfrm>
          <a:prstGeom prst="rect">
            <a:avLst/>
          </a:prstGeom>
        </p:spPr>
      </p:pic>
      <p:sp>
        <p:nvSpPr>
          <p:cNvPr id="16" name="step-card-2"/>
          <p:cNvSpPr/>
          <p:nvPr/>
        </p:nvSpPr>
        <p:spPr>
          <a:xfrm>
            <a:off x="6035040" y="2423160"/>
            <a:ext cx="256032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621792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Optimise budget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6217920" y="299923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quote, material list and AI savings ideas as you design.</a:t>
            </a:r>
            <a:endParaRPr lang="en-US" sz="1400" dirty="0"/>
          </a:p>
        </p:txBody>
      </p:sp>
      <p:sp>
        <p:nvSpPr>
          <p:cNvPr id="19" name="tagline"/>
          <p:cNvSpPr/>
          <p:nvPr/>
        </p:nvSpPr>
        <p:spPr>
          <a:xfrm>
            <a:off x="548640" y="4206240"/>
            <a:ext cx="8046720" cy="502920"/>
          </a:xfrm>
          <a:prstGeom prst="roundRect">
            <a:avLst>
              <a:gd name="adj" fmla="val 25455"/>
            </a:avLst>
          </a:prstGeom>
          <a:solidFill>
            <a:srgbClr val="1B1033"/>
          </a:solidFill>
          <a:ln w="12700">
            <a:solidFill>
              <a:srgbClr val="1B1033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31520" y="420624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Couples preview, customise and optimise their wedding before booking a single vendor.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product does</a:t>
            </a:r>
            <a:endParaRPr lang="en-US" sz="3200" dirty="0"/>
          </a:p>
        </p:txBody>
      </p:sp>
      <p:sp>
        <p:nvSpPr>
          <p:cNvPr id="3" name="feat-0"/>
          <p:cNvSpPr/>
          <p:nvPr/>
        </p:nvSpPr>
        <p:spPr>
          <a:xfrm>
            <a:off x="548640" y="1280160"/>
            <a:ext cx="2560320" cy="1463040"/>
          </a:xfrm>
          <a:prstGeom prst="roundRect">
            <a:avLst>
              <a:gd name="adj" fmla="val 875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E9C978">
                <a:alpha val="55000"/>
              </a:srgbClr>
            </a:solidFill>
            <a:prstDash val="solid"/>
          </a:ln>
        </p:spPr>
      </p:sp>
      <p:sp>
        <p:nvSpPr>
          <p:cNvPr id="4" name="icon-bg-feat-0"/>
          <p:cNvSpPr/>
          <p:nvPr/>
        </p:nvSpPr>
        <p:spPr>
          <a:xfrm>
            <a:off x="731520" y="1463040"/>
            <a:ext cx="502920" cy="502920"/>
          </a:xfrm>
          <a:prstGeom prst="ellipse">
            <a:avLst/>
          </a:prstGeom>
          <a:solidFill>
            <a:srgbClr val="5B52E0"/>
          </a:solidFill>
          <a:ln w="12700">
            <a:solidFill>
              <a:srgbClr val="5B52E0"/>
            </a:solidFill>
            <a:prstDash val="solid"/>
          </a:ln>
        </p:spPr>
      </p:sp>
      <p:pic>
        <p:nvPicPr>
          <p:cNvPr id="5" name="icon-feat-0" descr="feat-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308" y="1598828"/>
            <a:ext cx="231343" cy="23134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463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twin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photos, plans or video of any hall.</a:t>
            </a:r>
            <a:endParaRPr lang="en-US" sz="1400" dirty="0"/>
          </a:p>
        </p:txBody>
      </p:sp>
      <p:sp>
        <p:nvSpPr>
          <p:cNvPr id="8" name="feat-1"/>
          <p:cNvSpPr/>
          <p:nvPr/>
        </p:nvSpPr>
        <p:spPr>
          <a:xfrm>
            <a:off x="3291840" y="1280160"/>
            <a:ext cx="2560320" cy="1463040"/>
          </a:xfrm>
          <a:prstGeom prst="roundRect">
            <a:avLst>
              <a:gd name="adj" fmla="val 875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E9C978">
                <a:alpha val="55000"/>
              </a:srgbClr>
            </a:solidFill>
            <a:prstDash val="solid"/>
          </a:ln>
        </p:spPr>
      </p:sp>
      <p:sp>
        <p:nvSpPr>
          <p:cNvPr id="9" name="icon-bg-feat-1"/>
          <p:cNvSpPr/>
          <p:nvPr/>
        </p:nvSpPr>
        <p:spPr>
          <a:xfrm>
            <a:off x="3474720" y="1463040"/>
            <a:ext cx="502920" cy="502920"/>
          </a:xfrm>
          <a:prstGeom prst="ellipse">
            <a:avLst/>
          </a:prstGeom>
          <a:solidFill>
            <a:srgbClr val="E58AA3"/>
          </a:solidFill>
          <a:ln w="12700">
            <a:solidFill>
              <a:srgbClr val="E58AA3"/>
            </a:solidFill>
            <a:prstDash val="solid"/>
          </a:ln>
        </p:spPr>
      </p:sp>
      <p:pic>
        <p:nvPicPr>
          <p:cNvPr id="10" name="icon-feat-1" descr="feat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0508" y="1598828"/>
            <a:ext cx="231343" cy="23134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114800" y="1463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Themes &amp; layouts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looks, three seating layouts, instantly.</a:t>
            </a:r>
            <a:endParaRPr lang="en-US" sz="1400" dirty="0"/>
          </a:p>
        </p:txBody>
      </p:sp>
      <p:sp>
        <p:nvSpPr>
          <p:cNvPr id="13" name="feat-2"/>
          <p:cNvSpPr/>
          <p:nvPr/>
        </p:nvSpPr>
        <p:spPr>
          <a:xfrm>
            <a:off x="6035040" y="1280160"/>
            <a:ext cx="2560320" cy="1463040"/>
          </a:xfrm>
          <a:prstGeom prst="roundRect">
            <a:avLst>
              <a:gd name="adj" fmla="val 875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E9C978">
                <a:alpha val="55000"/>
              </a:srgbClr>
            </a:solidFill>
            <a:prstDash val="solid"/>
          </a:ln>
        </p:spPr>
      </p:sp>
      <p:sp>
        <p:nvSpPr>
          <p:cNvPr id="14" name="icon-bg-feat-2"/>
          <p:cNvSpPr/>
          <p:nvPr/>
        </p:nvSpPr>
        <p:spPr>
          <a:xfrm>
            <a:off x="6217920" y="1463040"/>
            <a:ext cx="502920" cy="502920"/>
          </a:xfrm>
          <a:prstGeom prst="ellipse">
            <a:avLst/>
          </a:prstGeom>
          <a:solidFill>
            <a:srgbClr val="3AA68A"/>
          </a:solidFill>
          <a:ln w="12700">
            <a:solidFill>
              <a:srgbClr val="3AA68A"/>
            </a:solidFill>
            <a:prstDash val="solid"/>
          </a:ln>
        </p:spPr>
      </p:sp>
      <p:pic>
        <p:nvPicPr>
          <p:cNvPr id="15" name="icon-feat-2" descr="fea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3708" y="1598828"/>
            <a:ext cx="231343" cy="23134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858000" y="1463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Capacity check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21792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Warns when guests will not fit the hall.</a:t>
            </a:r>
            <a:endParaRPr lang="en-US" sz="1400" dirty="0"/>
          </a:p>
        </p:txBody>
      </p:sp>
      <p:sp>
        <p:nvSpPr>
          <p:cNvPr id="18" name="feat-3"/>
          <p:cNvSpPr/>
          <p:nvPr/>
        </p:nvSpPr>
        <p:spPr>
          <a:xfrm>
            <a:off x="548640" y="2926080"/>
            <a:ext cx="2560320" cy="1463040"/>
          </a:xfrm>
          <a:prstGeom prst="roundRect">
            <a:avLst>
              <a:gd name="adj" fmla="val 875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E9C978">
                <a:alpha val="55000"/>
              </a:srgbClr>
            </a:solidFill>
            <a:prstDash val="solid"/>
          </a:ln>
        </p:spPr>
      </p:sp>
      <p:sp>
        <p:nvSpPr>
          <p:cNvPr id="19" name="icon-bg-feat-3"/>
          <p:cNvSpPr/>
          <p:nvPr/>
        </p:nvSpPr>
        <p:spPr>
          <a:xfrm>
            <a:off x="731520" y="3108960"/>
            <a:ext cx="502920" cy="50292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20" name="icon-feat-3" descr="feat-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308" y="3244748"/>
            <a:ext cx="231343" cy="23134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VR walkthrough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3749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the aisle before a rupee is spent.</a:t>
            </a:r>
            <a:endParaRPr lang="en-US" sz="1400" dirty="0"/>
          </a:p>
        </p:txBody>
      </p:sp>
      <p:sp>
        <p:nvSpPr>
          <p:cNvPr id="23" name="feat-4"/>
          <p:cNvSpPr/>
          <p:nvPr/>
        </p:nvSpPr>
        <p:spPr>
          <a:xfrm>
            <a:off x="3291840" y="2926080"/>
            <a:ext cx="2560320" cy="1463040"/>
          </a:xfrm>
          <a:prstGeom prst="roundRect">
            <a:avLst>
              <a:gd name="adj" fmla="val 875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E9C978">
                <a:alpha val="55000"/>
              </a:srgbClr>
            </a:solidFill>
            <a:prstDash val="solid"/>
          </a:ln>
        </p:spPr>
      </p:sp>
      <p:sp>
        <p:nvSpPr>
          <p:cNvPr id="24" name="icon-bg-feat-4"/>
          <p:cNvSpPr/>
          <p:nvPr/>
        </p:nvSpPr>
        <p:spPr>
          <a:xfrm>
            <a:off x="3474720" y="3108960"/>
            <a:ext cx="502920" cy="502920"/>
          </a:xfrm>
          <a:prstGeom prst="ellipse">
            <a:avLst/>
          </a:prstGeom>
          <a:solidFill>
            <a:srgbClr val="B98A2E"/>
          </a:solidFill>
          <a:ln w="12700">
            <a:solidFill>
              <a:srgbClr val="B98A2E"/>
            </a:solidFill>
            <a:prstDash val="solid"/>
          </a:ln>
        </p:spPr>
      </p:sp>
      <p:pic>
        <p:nvPicPr>
          <p:cNvPr id="25" name="icon-feat-4" descr="feat-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0508" y="3244748"/>
            <a:ext cx="231343" cy="23134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114800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quote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3474720" y="3749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Quantities and costs from your design.</a:t>
            </a:r>
            <a:endParaRPr lang="en-US" sz="1400" dirty="0"/>
          </a:p>
        </p:txBody>
      </p:sp>
      <p:sp>
        <p:nvSpPr>
          <p:cNvPr id="28" name="feat-5"/>
          <p:cNvSpPr/>
          <p:nvPr/>
        </p:nvSpPr>
        <p:spPr>
          <a:xfrm>
            <a:off x="6035040" y="2926080"/>
            <a:ext cx="2560320" cy="1463040"/>
          </a:xfrm>
          <a:prstGeom prst="roundRect">
            <a:avLst>
              <a:gd name="adj" fmla="val 875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E9C978">
                <a:alpha val="55000"/>
              </a:srgbClr>
            </a:solidFill>
            <a:prstDash val="solid"/>
          </a:ln>
        </p:spPr>
      </p:sp>
      <p:sp>
        <p:nvSpPr>
          <p:cNvPr id="29" name="icon-bg-feat-5"/>
          <p:cNvSpPr/>
          <p:nvPr/>
        </p:nvSpPr>
        <p:spPr>
          <a:xfrm>
            <a:off x="6217920" y="3108960"/>
            <a:ext cx="502920" cy="502920"/>
          </a:xfrm>
          <a:prstGeom prst="ellipse">
            <a:avLst/>
          </a:prstGeom>
          <a:solidFill>
            <a:srgbClr val="5B52E0"/>
          </a:solidFill>
          <a:ln w="12700">
            <a:solidFill>
              <a:srgbClr val="5B52E0"/>
            </a:solidFill>
            <a:prstDash val="solid"/>
          </a:ln>
        </p:spPr>
      </p:sp>
      <p:pic>
        <p:nvPicPr>
          <p:cNvPr id="30" name="icon-feat-5" descr="feat-5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3708" y="3244748"/>
            <a:ext cx="231343" cy="23134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58000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 tools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6217920" y="3749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pipeline, markup, share links.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venue. Four looks. Zero rework</a:t>
            </a:r>
            <a:endParaRPr lang="en-US" sz="3200" dirty="0"/>
          </a:p>
        </p:txBody>
      </p:sp>
      <p:sp>
        <p:nvSpPr>
          <p:cNvPr id="3" name="look-0"/>
          <p:cNvSpPr/>
          <p:nvPr/>
        </p:nvSpPr>
        <p:spPr>
          <a:xfrm>
            <a:off x="548640" y="1280160"/>
            <a:ext cx="2743200" cy="1554480"/>
          </a:xfrm>
          <a:prstGeom prst="roundRect">
            <a:avLst>
              <a:gd name="adj" fmla="val 8235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E9C978">
                <a:alpha val="55000"/>
              </a:srgbClr>
            </a:solidFill>
            <a:prstDash val="solid"/>
          </a:ln>
        </p:spPr>
      </p:sp>
      <p:sp>
        <p:nvSpPr>
          <p:cNvPr id="4" name="swatch-0-0"/>
          <p:cNvSpPr/>
          <p:nvPr/>
        </p:nvSpPr>
        <p:spPr>
          <a:xfrm>
            <a:off x="777240" y="1508760"/>
            <a:ext cx="457200" cy="457200"/>
          </a:xfrm>
          <a:prstGeom prst="ellipse">
            <a:avLst/>
          </a:prstGeom>
          <a:solidFill>
            <a:srgbClr val="F4BCCB"/>
          </a:solidFill>
          <a:ln w="190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swatch-0-1"/>
          <p:cNvSpPr/>
          <p:nvPr/>
        </p:nvSpPr>
        <p:spPr>
          <a:xfrm>
            <a:off x="1344168" y="1508760"/>
            <a:ext cx="457200" cy="457200"/>
          </a:xfrm>
          <a:prstGeom prst="ellipse">
            <a:avLst/>
          </a:prstGeom>
          <a:solidFill>
            <a:srgbClr val="FFF3EA"/>
          </a:solidFill>
          <a:ln w="190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6" name="swatch-0-2"/>
          <p:cNvSpPr/>
          <p:nvPr/>
        </p:nvSpPr>
        <p:spPr>
          <a:xfrm>
            <a:off x="1911096" y="1508760"/>
            <a:ext cx="457200" cy="457200"/>
          </a:xfrm>
          <a:prstGeom prst="ellipse">
            <a:avLst/>
          </a:prstGeom>
          <a:solidFill>
            <a:srgbClr val="E9C978"/>
          </a:solidFill>
          <a:ln w="190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7" name="swatch-0-3"/>
          <p:cNvSpPr/>
          <p:nvPr/>
        </p:nvSpPr>
        <p:spPr>
          <a:xfrm>
            <a:off x="2478024" y="1508760"/>
            <a:ext cx="457200" cy="457200"/>
          </a:xfrm>
          <a:prstGeom prst="ellipse">
            <a:avLst/>
          </a:prstGeom>
          <a:solidFill>
            <a:srgbClr val="F4A6B8"/>
          </a:solidFill>
          <a:ln w="190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Royal Pastel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468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romantic, ivory &amp; blush</a:t>
            </a:r>
            <a:endParaRPr lang="en-US" sz="1300" dirty="0"/>
          </a:p>
        </p:txBody>
      </p:sp>
      <p:sp>
        <p:nvSpPr>
          <p:cNvPr id="10" name="look-1"/>
          <p:cNvSpPr/>
          <p:nvPr/>
        </p:nvSpPr>
        <p:spPr>
          <a:xfrm>
            <a:off x="3429000" y="1280160"/>
            <a:ext cx="2743200" cy="1554480"/>
          </a:xfrm>
          <a:prstGeom prst="roundRect">
            <a:avLst>
              <a:gd name="adj" fmla="val 8235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E9C978">
                <a:alpha val="55000"/>
              </a:srgbClr>
            </a:solidFill>
            <a:prstDash val="solid"/>
          </a:ln>
        </p:spPr>
      </p:sp>
      <p:sp>
        <p:nvSpPr>
          <p:cNvPr id="11" name="swatch-1-0"/>
          <p:cNvSpPr/>
          <p:nvPr/>
        </p:nvSpPr>
        <p:spPr>
          <a:xfrm>
            <a:off x="3657600" y="1508760"/>
            <a:ext cx="457200" cy="457200"/>
          </a:xfrm>
          <a:prstGeom prst="ellipse">
            <a:avLst/>
          </a:prstGeom>
          <a:solidFill>
            <a:srgbClr val="1F7A58"/>
          </a:solidFill>
          <a:ln w="190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2" name="swatch-1-1"/>
          <p:cNvSpPr/>
          <p:nvPr/>
        </p:nvSpPr>
        <p:spPr>
          <a:xfrm>
            <a:off x="4224528" y="1508760"/>
            <a:ext cx="457200" cy="457200"/>
          </a:xfrm>
          <a:prstGeom prst="ellipse">
            <a:avLst/>
          </a:prstGeom>
          <a:solidFill>
            <a:srgbClr val="F4EFDC"/>
          </a:solidFill>
          <a:ln w="190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3" name="swatch-1-2"/>
          <p:cNvSpPr/>
          <p:nvPr/>
        </p:nvSpPr>
        <p:spPr>
          <a:xfrm>
            <a:off x="4791456" y="1508760"/>
            <a:ext cx="457200" cy="457200"/>
          </a:xfrm>
          <a:prstGeom prst="ellipse">
            <a:avLst/>
          </a:prstGeom>
          <a:solidFill>
            <a:srgbClr val="F5D76E"/>
          </a:solidFill>
          <a:ln w="190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4" name="swatch-1-3"/>
          <p:cNvSpPr/>
          <p:nvPr/>
        </p:nvSpPr>
        <p:spPr>
          <a:xfrm>
            <a:off x="5358384" y="1508760"/>
            <a:ext cx="457200" cy="457200"/>
          </a:xfrm>
          <a:prstGeom prst="ellipse">
            <a:avLst/>
          </a:prstGeom>
          <a:solidFill>
            <a:srgbClr val="8FD1AC"/>
          </a:solidFill>
          <a:ln w="190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5760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Emerald Heritage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3657600" y="2468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Classic, regal, green &amp; gold</a:t>
            </a:r>
            <a:endParaRPr lang="en-US" sz="1300" dirty="0"/>
          </a:p>
        </p:txBody>
      </p:sp>
      <p:sp>
        <p:nvSpPr>
          <p:cNvPr id="17" name="look-2"/>
          <p:cNvSpPr/>
          <p:nvPr/>
        </p:nvSpPr>
        <p:spPr>
          <a:xfrm>
            <a:off x="548640" y="2971800"/>
            <a:ext cx="2743200" cy="1554480"/>
          </a:xfrm>
          <a:prstGeom prst="roundRect">
            <a:avLst>
              <a:gd name="adj" fmla="val 8235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E9C978">
                <a:alpha val="55000"/>
              </a:srgbClr>
            </a:solidFill>
            <a:prstDash val="solid"/>
          </a:ln>
        </p:spPr>
      </p:sp>
      <p:sp>
        <p:nvSpPr>
          <p:cNvPr id="18" name="swatch-2-0"/>
          <p:cNvSpPr/>
          <p:nvPr/>
        </p:nvSpPr>
        <p:spPr>
          <a:xfrm>
            <a:off x="777240" y="3200400"/>
            <a:ext cx="457200" cy="457200"/>
          </a:xfrm>
          <a:prstGeom prst="ellipse">
            <a:avLst/>
          </a:prstGeom>
          <a:solidFill>
            <a:srgbClr val="A8182F"/>
          </a:solidFill>
          <a:ln w="190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9" name="swatch-2-1"/>
          <p:cNvSpPr/>
          <p:nvPr/>
        </p:nvSpPr>
        <p:spPr>
          <a:xfrm>
            <a:off x="1344168" y="3200400"/>
            <a:ext cx="457200" cy="457200"/>
          </a:xfrm>
          <a:prstGeom prst="ellipse">
            <a:avLst/>
          </a:prstGeom>
          <a:solidFill>
            <a:srgbClr val="F2C14E"/>
          </a:solidFill>
          <a:ln w="190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0" name="swatch-2-2"/>
          <p:cNvSpPr/>
          <p:nvPr/>
        </p:nvSpPr>
        <p:spPr>
          <a:xfrm>
            <a:off x="1911096" y="3200400"/>
            <a:ext cx="457200" cy="457200"/>
          </a:xfrm>
          <a:prstGeom prst="ellipse">
            <a:avLst/>
          </a:prstGeom>
          <a:solidFill>
            <a:srgbClr val="FF8C42"/>
          </a:solidFill>
          <a:ln w="190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1" name="swatch-2-3"/>
          <p:cNvSpPr/>
          <p:nvPr/>
        </p:nvSpPr>
        <p:spPr>
          <a:xfrm>
            <a:off x="2478024" y="3200400"/>
            <a:ext cx="457200" cy="457200"/>
          </a:xfrm>
          <a:prstGeom prst="ellipse">
            <a:avLst/>
          </a:prstGeom>
          <a:solidFill>
            <a:srgbClr val="D7263D"/>
          </a:solidFill>
          <a:ln w="190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3794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Crimson Maharaja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160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Bold, festive, red &amp; gold</a:t>
            </a:r>
            <a:endParaRPr lang="en-US" sz="1300" dirty="0"/>
          </a:p>
        </p:txBody>
      </p:sp>
      <p:sp>
        <p:nvSpPr>
          <p:cNvPr id="24" name="look-3"/>
          <p:cNvSpPr/>
          <p:nvPr/>
        </p:nvSpPr>
        <p:spPr>
          <a:xfrm>
            <a:off x="3429000" y="2971800"/>
            <a:ext cx="2743200" cy="1554480"/>
          </a:xfrm>
          <a:prstGeom prst="roundRect">
            <a:avLst>
              <a:gd name="adj" fmla="val 8235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E9C978">
                <a:alpha val="55000"/>
              </a:srgbClr>
            </a:solidFill>
            <a:prstDash val="solid"/>
          </a:ln>
        </p:spPr>
      </p:sp>
      <p:sp>
        <p:nvSpPr>
          <p:cNvPr id="25" name="swatch-3-0"/>
          <p:cNvSpPr/>
          <p:nvPr/>
        </p:nvSpPr>
        <p:spPr>
          <a:xfrm>
            <a:off x="3657600" y="3200400"/>
            <a:ext cx="457200" cy="457200"/>
          </a:xfrm>
          <a:prstGeom prst="ellipse">
            <a:avLst/>
          </a:prstGeom>
          <a:solidFill>
            <a:srgbClr val="2B3A8A"/>
          </a:solidFill>
          <a:ln w="190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6" name="swatch-3-1"/>
          <p:cNvSpPr/>
          <p:nvPr/>
        </p:nvSpPr>
        <p:spPr>
          <a:xfrm>
            <a:off x="4224528" y="3200400"/>
            <a:ext cx="457200" cy="457200"/>
          </a:xfrm>
          <a:prstGeom prst="ellipse">
            <a:avLst/>
          </a:prstGeom>
          <a:solidFill>
            <a:srgbClr val="E3E9FF"/>
          </a:solidFill>
          <a:ln w="190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7" name="swatch-3-2"/>
          <p:cNvSpPr/>
          <p:nvPr/>
        </p:nvSpPr>
        <p:spPr>
          <a:xfrm>
            <a:off x="4791456" y="3200400"/>
            <a:ext cx="457200" cy="457200"/>
          </a:xfrm>
          <a:prstGeom prst="ellipse">
            <a:avLst/>
          </a:prstGeom>
          <a:solidFill>
            <a:srgbClr val="B7C7FF"/>
          </a:solidFill>
          <a:ln w="190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8" name="swatch-3-3"/>
          <p:cNvSpPr/>
          <p:nvPr/>
        </p:nvSpPr>
        <p:spPr>
          <a:xfrm>
            <a:off x="5358384" y="3200400"/>
            <a:ext cx="457200" cy="457200"/>
          </a:xfrm>
          <a:prstGeom prst="ellipse">
            <a:avLst/>
          </a:prstGeom>
          <a:solidFill>
            <a:srgbClr val="E8C872"/>
          </a:solidFill>
          <a:ln w="190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57600" y="3794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Midnight Gala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3657600" y="4160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Modern, elegant, navy &amp; silver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128016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9C9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8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0" y="18470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themes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583680" y="23317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9C9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8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0" y="28986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layouts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0" y="33832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9C9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&lt;1s</a:t>
            </a:r>
            <a:endParaRPr lang="en-US" sz="38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0" y="39502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switch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huge, emotional, under-digitised market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280160"/>
            <a:ext cx="256032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5087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5B52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~10M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514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weddings a year in India</a:t>
            </a:r>
            <a:endParaRPr lang="en-US" sz="1500" dirty="0"/>
          </a:p>
        </p:txBody>
      </p:sp>
      <p:sp>
        <p:nvSpPr>
          <p:cNvPr id="6" name="stat-1"/>
          <p:cNvSpPr/>
          <p:nvPr/>
        </p:nvSpPr>
        <p:spPr>
          <a:xfrm>
            <a:off x="3291840" y="1280160"/>
            <a:ext cx="256032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520440" y="15087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98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~₹10L Cr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2514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annual wedding spend (₹10 lakh crore)</a:t>
            </a:r>
            <a:endParaRPr lang="en-US" sz="1500" dirty="0"/>
          </a:p>
        </p:txBody>
      </p:sp>
      <p:sp>
        <p:nvSpPr>
          <p:cNvPr id="9" name="stat-2"/>
          <p:cNvSpPr/>
          <p:nvPr/>
        </p:nvSpPr>
        <p:spPr>
          <a:xfrm>
            <a:off x="6035040" y="1280160"/>
            <a:ext cx="256032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263640" y="15087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AA6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10–15%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514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budget goes to décor — our wedge</a:t>
            </a:r>
            <a:endParaRPr lang="en-US" sz="1500" dirty="0"/>
          </a:p>
        </p:txBody>
      </p:sp>
      <p:sp>
        <p:nvSpPr>
          <p:cNvPr id="12" name="beachhead"/>
          <p:cNvSpPr/>
          <p:nvPr/>
        </p:nvSpPr>
        <p:spPr>
          <a:xfrm>
            <a:off x="548640" y="3749040"/>
            <a:ext cx="8046720" cy="777240"/>
          </a:xfrm>
          <a:prstGeom prst="roundRect">
            <a:avLst>
              <a:gd name="adj" fmla="val 16471"/>
            </a:avLst>
          </a:prstGeom>
          <a:solidFill>
            <a:srgbClr val="1B1033"/>
          </a:solidFill>
          <a:ln w="12700">
            <a:solidFill>
              <a:srgbClr val="1B10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749040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Beachhead: metro planners &amp; décor-led weddings (₹15L–₹1 Cr budgets). Then vendors, venues and NRI weddings.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we make money</a:t>
            </a:r>
            <a:endParaRPr lang="en-US" sz="3200" dirty="0"/>
          </a:p>
        </p:txBody>
      </p:sp>
      <p:sp>
        <p:nvSpPr>
          <p:cNvPr id="3" name="model-0"/>
          <p:cNvSpPr/>
          <p:nvPr/>
        </p:nvSpPr>
        <p:spPr>
          <a:xfrm>
            <a:off x="548640" y="1234440"/>
            <a:ext cx="804672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4" name="icon-bg-model-0"/>
          <p:cNvSpPr/>
          <p:nvPr/>
        </p:nvSpPr>
        <p:spPr>
          <a:xfrm>
            <a:off x="777240" y="1389888"/>
            <a:ext cx="640080" cy="640080"/>
          </a:xfrm>
          <a:prstGeom prst="ellipse">
            <a:avLst/>
          </a:prstGeom>
          <a:solidFill>
            <a:srgbClr val="5B52E0"/>
          </a:solidFill>
          <a:ln w="12700">
            <a:solidFill>
              <a:srgbClr val="5B52E0"/>
            </a:solidFill>
            <a:prstDash val="solid"/>
          </a:ln>
        </p:spPr>
      </p:sp>
      <p:pic>
        <p:nvPicPr>
          <p:cNvPr id="5" name="icon-model-0" descr="model-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062" y="1562710"/>
            <a:ext cx="294437" cy="29443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36245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 SaaS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1645920" y="17647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₹2,999–₹9,999 / month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132588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client previews, branded quotes, share links.</a:t>
            </a:r>
            <a:endParaRPr lang="en-US" sz="1400" dirty="0"/>
          </a:p>
        </p:txBody>
      </p:sp>
      <p:sp>
        <p:nvSpPr>
          <p:cNvPr id="9" name="model-1"/>
          <p:cNvSpPr/>
          <p:nvPr/>
        </p:nvSpPr>
        <p:spPr>
          <a:xfrm>
            <a:off x="548640" y="2331720"/>
            <a:ext cx="804672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0" name="icon-bg-model-1"/>
          <p:cNvSpPr/>
          <p:nvPr/>
        </p:nvSpPr>
        <p:spPr>
          <a:xfrm>
            <a:off x="777240" y="2487168"/>
            <a:ext cx="640080" cy="640080"/>
          </a:xfrm>
          <a:prstGeom prst="ellipse">
            <a:avLst/>
          </a:prstGeom>
          <a:solidFill>
            <a:srgbClr val="B98A2E"/>
          </a:solidFill>
          <a:ln w="12700">
            <a:solidFill>
              <a:srgbClr val="B98A2E"/>
            </a:solidFill>
            <a:prstDash val="solid"/>
          </a:ln>
        </p:spPr>
      </p:sp>
      <p:pic>
        <p:nvPicPr>
          <p:cNvPr id="11" name="icon-model-1" descr="model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062" y="2659990"/>
            <a:ext cx="294437" cy="29443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645920" y="245973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Vendor lead fees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1645920" y="286207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₹1,500–₹4,000 per qualified quote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663440" y="242316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Vendors pay for design-ready, budget-matched leads.</a:t>
            </a:r>
            <a:endParaRPr lang="en-US" sz="1400" dirty="0"/>
          </a:p>
        </p:txBody>
      </p:sp>
      <p:sp>
        <p:nvSpPr>
          <p:cNvPr id="15" name="model-2"/>
          <p:cNvSpPr/>
          <p:nvPr/>
        </p:nvSpPr>
        <p:spPr>
          <a:xfrm>
            <a:off x="548640" y="3429000"/>
            <a:ext cx="804672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6" name="icon-bg-model-2"/>
          <p:cNvSpPr/>
          <p:nvPr/>
        </p:nvSpPr>
        <p:spPr>
          <a:xfrm>
            <a:off x="777240" y="3584448"/>
            <a:ext cx="640080" cy="640080"/>
          </a:xfrm>
          <a:prstGeom prst="ellipse">
            <a:avLst/>
          </a:prstGeom>
          <a:solidFill>
            <a:srgbClr val="3AA68A"/>
          </a:solidFill>
          <a:ln w="12700">
            <a:solidFill>
              <a:srgbClr val="3AA68A"/>
            </a:solidFill>
            <a:prstDash val="solid"/>
          </a:ln>
        </p:spPr>
      </p:sp>
      <p:pic>
        <p:nvPicPr>
          <p:cNvPr id="17" name="icon-model-2" descr="model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062" y="3757270"/>
            <a:ext cx="294437" cy="29443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45920" y="355701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 commission</a:t>
            </a:r>
            <a:endParaRPr lang="en-US" sz="1900" dirty="0"/>
          </a:p>
        </p:txBody>
      </p:sp>
      <p:sp>
        <p:nvSpPr>
          <p:cNvPr id="19" name="Text 14"/>
          <p:cNvSpPr txBox="1"/>
          <p:nvPr/>
        </p:nvSpPr>
        <p:spPr>
          <a:xfrm>
            <a:off x="1645920" y="395935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A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2–4% on bookings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663440" y="352044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Closed-loop booking through the platform.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win</a:t>
            </a:r>
            <a:endParaRPr lang="en-US" sz="3200" dirty="0"/>
          </a:p>
        </p:txBody>
      </p:sp>
      <p:graphicFrame>
        <p:nvGraphicFramePr>
          <p:cNvPr id="10" name="competition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0467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88720"/>
                <a:gridCol w="1371600"/>
                <a:gridCol w="1371600"/>
                <a:gridCol w="1188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Mood boards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marketplaces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Planner spreadsheets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1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WedVerse 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C9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Sees YOUR venue in 3D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AA6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Instant theme &amp; layout changes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AA6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cost as you design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AA6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 vendors like-for-like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AA6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+ material list from design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AA6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Moat: proprietary venue library + planner workflow data + vendor price intelligence.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Go-to-market: planners first</a:t>
            </a:r>
            <a:endParaRPr lang="en-US" sz="3200" dirty="0"/>
          </a:p>
        </p:txBody>
      </p:sp>
      <p:sp>
        <p:nvSpPr>
          <p:cNvPr id="3" name="timeline"/>
          <p:cNvSpPr/>
          <p:nvPr/>
        </p:nvSpPr>
        <p:spPr>
          <a:xfrm>
            <a:off x="1005840" y="1828800"/>
            <a:ext cx="7223760" cy="0"/>
          </a:xfrm>
          <a:prstGeom prst="line">
            <a:avLst/>
          </a:prstGeom>
          <a:noFill/>
          <a:ln w="25400">
            <a:solidFill>
              <a:srgbClr val="C9BFEA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5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0–6 MONTHS</a:t>
            </a:r>
            <a:endParaRPr lang="en-US" sz="1200" dirty="0"/>
          </a:p>
        </p:txBody>
      </p:sp>
      <p:sp>
        <p:nvSpPr>
          <p:cNvPr id="5" name="node-0"/>
          <p:cNvSpPr/>
          <p:nvPr/>
        </p:nvSpPr>
        <p:spPr>
          <a:xfrm>
            <a:off x="594360" y="1600200"/>
            <a:ext cx="457200" cy="457200"/>
          </a:xfrm>
          <a:prstGeom prst="ellipse">
            <a:avLst/>
          </a:prstGeom>
          <a:solidFill>
            <a:srgbClr val="5B52E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gtm-0"/>
          <p:cNvSpPr/>
          <p:nvPr/>
        </p:nvSpPr>
        <p:spPr>
          <a:xfrm>
            <a:off x="548640" y="2377440"/>
            <a:ext cx="256032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25420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999232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50 metro wedding planners free. Collect 200 real venues.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188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6–12 MONTHS</a:t>
            </a:r>
            <a:endParaRPr lang="en-US" sz="1200" dirty="0"/>
          </a:p>
        </p:txBody>
      </p:sp>
      <p:sp>
        <p:nvSpPr>
          <p:cNvPr id="10" name="node-1"/>
          <p:cNvSpPr/>
          <p:nvPr/>
        </p:nvSpPr>
        <p:spPr>
          <a:xfrm>
            <a:off x="3337560" y="1600200"/>
            <a:ext cx="457200" cy="457200"/>
          </a:xfrm>
          <a:prstGeom prst="ellipse">
            <a:avLst/>
          </a:prstGeom>
          <a:solidFill>
            <a:srgbClr val="B98A2E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1" name="gtm-1"/>
          <p:cNvSpPr/>
          <p:nvPr/>
        </p:nvSpPr>
        <p:spPr>
          <a:xfrm>
            <a:off x="3291840" y="2377440"/>
            <a:ext cx="256032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20440" y="25420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Monetise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2999232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SaaS tiers + vendor lead marketplace in 3 cities.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1188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AA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12–24 MONTHS</a:t>
            </a:r>
            <a:endParaRPr lang="en-US" sz="1200" dirty="0"/>
          </a:p>
        </p:txBody>
      </p:sp>
      <p:sp>
        <p:nvSpPr>
          <p:cNvPr id="15" name="node-2"/>
          <p:cNvSpPr/>
          <p:nvPr/>
        </p:nvSpPr>
        <p:spPr>
          <a:xfrm>
            <a:off x="6080760" y="1600200"/>
            <a:ext cx="457200" cy="457200"/>
          </a:xfrm>
          <a:prstGeom prst="ellipse">
            <a:avLst/>
          </a:prstGeom>
          <a:solidFill>
            <a:srgbClr val="3AA68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6" name="gtm-2"/>
          <p:cNvSpPr/>
          <p:nvPr/>
        </p:nvSpPr>
        <p:spPr>
          <a:xfrm>
            <a:off x="6035040" y="2377440"/>
            <a:ext cx="256032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263640" y="25420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999232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commissions, venue partnerships, NRI &amp; destination weddings.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Projected revenue: ₹0.6 Cr to ₹14.5 Cr in 3 years</a:t>
            </a:r>
            <a:endParaRPr lang="en-US" sz="2800" dirty="0"/>
          </a:p>
        </p:txBody>
      </p:sp>
      <p:sp>
        <p:nvSpPr>
          <p:cNvPr id="3" name="chart-card"/>
          <p:cNvSpPr/>
          <p:nvPr/>
        </p:nvSpPr>
        <p:spPr>
          <a:xfrm>
            <a:off x="548640" y="1188720"/>
            <a:ext cx="50292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graphicFrame>
        <p:nvGraphicFramePr>
          <p:cNvPr id="4" name="Chart 0" descr=""/>
          <p:cNvGraphicFramePr/>
          <p:nvPr/>
        </p:nvGraphicFramePr>
        <p:xfrm>
          <a:off x="685800" y="1280160"/>
          <a:ext cx="47548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kpi-0"/>
          <p:cNvSpPr/>
          <p:nvPr/>
        </p:nvSpPr>
        <p:spPr>
          <a:xfrm>
            <a:off x="5806440" y="1188720"/>
            <a:ext cx="278892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989320" y="128016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52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0" y="128016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gross margin</a:t>
            </a:r>
            <a:endParaRPr lang="en-US" sz="1400" dirty="0"/>
          </a:p>
        </p:txBody>
      </p:sp>
      <p:sp>
        <p:nvSpPr>
          <p:cNvPr id="8" name="kpi-1"/>
          <p:cNvSpPr/>
          <p:nvPr/>
        </p:nvSpPr>
        <p:spPr>
          <a:xfrm>
            <a:off x="5806440" y="2331720"/>
            <a:ext cx="278892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989320" y="242316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52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&lt;4 mo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0" y="242316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payback target</a:t>
            </a:r>
            <a:endParaRPr lang="en-US" sz="1400" dirty="0"/>
          </a:p>
        </p:txBody>
      </p:sp>
      <p:sp>
        <p:nvSpPr>
          <p:cNvPr id="11" name="kpi-2"/>
          <p:cNvSpPr/>
          <p:nvPr/>
        </p:nvSpPr>
        <p:spPr>
          <a:xfrm>
            <a:off x="5806440" y="3474720"/>
            <a:ext cx="278892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989320" y="356616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52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3×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0" y="356616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: CAC target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E9C9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₹1.5 Cr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77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5% equity</a:t>
            </a:r>
            <a:endParaRPr lang="en-US" sz="2600" dirty="0"/>
          </a:p>
        </p:txBody>
      </p:sp>
      <p:sp>
        <p:nvSpPr>
          <p:cNvPr id="5" name="val-card"/>
          <p:cNvSpPr/>
          <p:nvPr/>
        </p:nvSpPr>
        <p:spPr>
          <a:xfrm>
            <a:off x="548640" y="3063240"/>
            <a:ext cx="4023360" cy="502920"/>
          </a:xfrm>
          <a:prstGeom prst="roundRect">
            <a:avLst>
              <a:gd name="adj" fmla="val 25455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E9C978">
                <a:alpha val="55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06324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C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 Cr post-money  ·  18-month runway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947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cash: wedding-industry distribution, vendor introductions and brand credibility.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846320" y="1051560"/>
          <a:ext cx="38404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e-ring-6.2"/>
          <p:cNvSpPr/>
          <p:nvPr/>
        </p:nvSpPr>
        <p:spPr>
          <a:xfrm>
            <a:off x="1737360" y="-320040"/>
            <a:ext cx="5669280" cy="5669280"/>
          </a:xfrm>
          <a:prstGeom prst="ellipse">
            <a:avLst/>
          </a:prstGeom>
          <a:ln w="12700">
            <a:solidFill>
              <a:srgbClr val="E9C978">
                <a:alpha val="15000"/>
              </a:srgbClr>
            </a:solidFill>
            <a:prstDash val="solid"/>
          </a:ln>
        </p:spPr>
      </p:sp>
      <p:sp>
        <p:nvSpPr>
          <p:cNvPr id="3" name="close-ring-4.6"/>
          <p:cNvSpPr/>
          <p:nvPr/>
        </p:nvSpPr>
        <p:spPr>
          <a:xfrm>
            <a:off x="2468880" y="411480"/>
            <a:ext cx="4206240" cy="4206240"/>
          </a:xfrm>
          <a:prstGeom prst="ellipse">
            <a:avLst/>
          </a:prstGeom>
          <a:ln w="12700">
            <a:solidFill>
              <a:srgbClr val="E9C978">
                <a:alpha val="22000"/>
              </a:srgbClr>
            </a:solidFill>
            <a:prstDash val="solid"/>
          </a:ln>
        </p:spPr>
      </p:sp>
      <p:sp>
        <p:nvSpPr>
          <p:cNvPr id="4" name="close-ring-3.2"/>
          <p:cNvSpPr/>
          <p:nvPr/>
        </p:nvSpPr>
        <p:spPr>
          <a:xfrm>
            <a:off x="3108960" y="1051560"/>
            <a:ext cx="2926080" cy="2926080"/>
          </a:xfrm>
          <a:prstGeom prst="ellipse">
            <a:avLst/>
          </a:prstGeom>
          <a:ln w="12700">
            <a:solidFill>
              <a:srgbClr val="E9C978">
                <a:alpha val="32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make every wedding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masterpiece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9718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E9C9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WedVerse AI — See your wedding before you spend on it.</a:t>
            </a:r>
            <a:endParaRPr lang="en-US" sz="2000" dirty="0"/>
          </a:p>
        </p:txBody>
      </p:sp>
      <p:sp>
        <p:nvSpPr>
          <p:cNvPr id="7" name="close-pill"/>
          <p:cNvSpPr/>
          <p:nvPr/>
        </p:nvSpPr>
        <p:spPr>
          <a:xfrm>
            <a:off x="3657600" y="384048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E9C978"/>
          </a:solidFill>
          <a:ln w="12700">
            <a:solidFill>
              <a:srgbClr val="E9C97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0" y="384048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IN?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dVerse Pitch">
  <a:themeElements>
    <a:clrScheme name="WedVerse Pitch">
      <a:dk1>
        <a:srgbClr val="1B1033"/>
      </a:dk1>
      <a:lt1>
        <a:srgbClr val="FFFFFF"/>
      </a:lt1>
      <a:dk2>
        <a:srgbClr val="3A2278"/>
      </a:dk2>
      <a:lt2>
        <a:srgbClr val="F4EFFF"/>
      </a:lt2>
      <a:accent1>
        <a:srgbClr val="B98A2E"/>
      </a:accent1>
      <a:accent2>
        <a:srgbClr val="5B52E0"/>
      </a:accent2>
      <a:accent3>
        <a:srgbClr val="E58AA3"/>
      </a:accent3>
      <a:accent4>
        <a:srgbClr val="3AA68A"/>
      </a:accent4>
      <a:accent5>
        <a:srgbClr val="E9C978"/>
      </a:accent5>
      <a:accent6>
        <a:srgbClr val="8B5CF6"/>
      </a:accent6>
      <a:hlink>
        <a:srgbClr val="5B52E0"/>
      </a:hlink>
      <a:folHlink>
        <a:srgbClr val="8B5CF6"/>
      </a:folHlink>
    </a:clrScheme>
    <a:fontScheme name="WedVerse Pitc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WedVerse AI — Investor Pitch</dc:title>
  <dc:subject>PptxGenJS Presentation</dc:subject>
  <dc:creator>WedVerse AI</dc:creator>
  <cp:lastModifiedBy>WedVerse AI</cp:lastModifiedBy>
  <cp:revision>1</cp:revision>
  <dcterms:created xsi:type="dcterms:W3CDTF">2026-10-07T10:35:50Z</dcterms:created>
  <dcterms:modified xsi:type="dcterms:W3CDTF">2026-10-07T10:35:50Z</dcterms:modified>
</cp:coreProperties>
</file>